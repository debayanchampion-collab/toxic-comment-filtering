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9" r:id="rId23"/>
    <p:sldId id="280" r:id="rId24"/>
    <p:sldId id="281" r:id="rId25"/>
    <p:sldId id="282" r:id="rId26"/>
    <p:sldId id="283" r:id="rId27"/>
    <p:sldId id="293" r:id="rId28"/>
    <p:sldId id="284" r:id="rId29"/>
    <p:sldId id="285" r:id="rId30"/>
    <p:sldId id="286" r:id="rId31"/>
    <p:sldId id="288" r:id="rId32"/>
    <p:sldId id="294" r:id="rId33"/>
    <p:sldId id="289" r:id="rId34"/>
    <p:sldId id="290" r:id="rId35"/>
    <p:sldId id="29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AA33-FC6C-4F65-B2B8-128596892E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22D15D-C4AB-E4AA-2D86-87501A7997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E2F65D-554C-0FE8-29CF-F37C7DA0E4FB}"/>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5" name="Footer Placeholder 4">
            <a:extLst>
              <a:ext uri="{FF2B5EF4-FFF2-40B4-BE49-F238E27FC236}">
                <a16:creationId xmlns:a16="http://schemas.microsoft.com/office/drawing/2014/main" id="{41923DA4-3005-3EB4-A04B-C3BD7E1B00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69084A-4FDE-8300-E312-08D16003E664}"/>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3442328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82F3D-AD6D-C247-750F-E85FBD464F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EE2B08-C98C-2307-9374-9EC959E98C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E8AF10-E78D-B5B9-A672-7A8C9E605B5F}"/>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5" name="Footer Placeholder 4">
            <a:extLst>
              <a:ext uri="{FF2B5EF4-FFF2-40B4-BE49-F238E27FC236}">
                <a16:creationId xmlns:a16="http://schemas.microsoft.com/office/drawing/2014/main" id="{B2E69F9F-3BA5-B012-9B66-F14B4882F6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770C59-259D-C2F4-5D25-9C1A7185CE74}"/>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2767874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1D0A-A978-D172-0DB1-FEC93599A2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D18EC04-AC99-484F-1762-E11CBEBD44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56DA83-201E-5730-42AD-351EEA882DFB}"/>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5" name="Footer Placeholder 4">
            <a:extLst>
              <a:ext uri="{FF2B5EF4-FFF2-40B4-BE49-F238E27FC236}">
                <a16:creationId xmlns:a16="http://schemas.microsoft.com/office/drawing/2014/main" id="{00EF9302-E8F9-E310-0090-2F01AB7974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346141-AB1A-AAD4-FB95-CE7036617F0F}"/>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45154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8DD5-73EA-3679-C015-43E2394E01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939594-9BF8-9D13-8F35-7FD1B43130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9A2FCB-6686-0FF8-9E81-D437C51019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B18005-6AF5-7607-8029-DD9C2D87641B}"/>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6" name="Footer Placeholder 5">
            <a:extLst>
              <a:ext uri="{FF2B5EF4-FFF2-40B4-BE49-F238E27FC236}">
                <a16:creationId xmlns:a16="http://schemas.microsoft.com/office/drawing/2014/main" id="{F98CE9D3-8DA6-151A-39EE-3A90384F90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797B6A-B7AF-7135-6439-0741D1532BE9}"/>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42920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FDD5C-8B90-6ABD-E078-1178E4456EE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3FF2FC-36AC-48FD-42F6-85A78432F0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6CBB03-1573-8344-BAD4-881CB2CAB8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69DFCD-1E11-08C4-A528-F3D10C141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FDBCE1-6C58-560B-7203-090D0D4CC9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93237E-539A-12E4-AF15-B1BFDE0FF721}"/>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8" name="Footer Placeholder 7">
            <a:extLst>
              <a:ext uri="{FF2B5EF4-FFF2-40B4-BE49-F238E27FC236}">
                <a16:creationId xmlns:a16="http://schemas.microsoft.com/office/drawing/2014/main" id="{23A79D40-D641-10B2-192E-4B3068A423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EC51896-5398-3BD8-910B-41F79CCC5E96}"/>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3798316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D656-2E8C-48D2-95B1-1089E70C06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0A443C-5F3E-9987-9AD5-3672614B8A17}"/>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4" name="Footer Placeholder 3">
            <a:extLst>
              <a:ext uri="{FF2B5EF4-FFF2-40B4-BE49-F238E27FC236}">
                <a16:creationId xmlns:a16="http://schemas.microsoft.com/office/drawing/2014/main" id="{00728A77-9D66-62B1-3319-F9ABED7BD0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B8E9AEB-BD1B-9D42-53B9-FDFB1F33BCAB}"/>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3412450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A5D141-448D-BC1A-A096-6BEAAD001BFF}"/>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3" name="Footer Placeholder 2">
            <a:extLst>
              <a:ext uri="{FF2B5EF4-FFF2-40B4-BE49-F238E27FC236}">
                <a16:creationId xmlns:a16="http://schemas.microsoft.com/office/drawing/2014/main" id="{3B21EE38-F56F-27CA-623B-4FA7E90FB5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43AEB7-46BB-E70E-CF12-01DA7BCBD762}"/>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857330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33B4-16FB-BDAE-9536-E183051F8E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E6DEA0-97A3-E56D-BD37-A6B88E9E24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12D99B7-B39B-7D35-1C9F-F049B307C7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2C2052-F459-3087-C794-F46B82234FA8}"/>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6" name="Footer Placeholder 5">
            <a:extLst>
              <a:ext uri="{FF2B5EF4-FFF2-40B4-BE49-F238E27FC236}">
                <a16:creationId xmlns:a16="http://schemas.microsoft.com/office/drawing/2014/main" id="{77C7D219-DCB8-D689-28D1-A7EC6C7AB7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38D488-E3E3-D2F5-D61E-097C45623764}"/>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1639628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61A55-6546-5E72-2D5D-A42B8E811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43A08C-EAB5-0A97-8891-E7B4B4AEB2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E112A3-7FDD-A8AA-C4E8-D51BA95D4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AD7BE0-FA1B-9B81-9FEA-71B35EF7981D}"/>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6" name="Footer Placeholder 5">
            <a:extLst>
              <a:ext uri="{FF2B5EF4-FFF2-40B4-BE49-F238E27FC236}">
                <a16:creationId xmlns:a16="http://schemas.microsoft.com/office/drawing/2014/main" id="{812CFF87-A9F7-7451-D783-4DE1BA761B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61A4F3-D844-C000-07BF-76B03668AB74}"/>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747869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163ED-8A6A-CA49-F589-D155D94010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5E2AB3-F13F-3E53-EBC7-03EE5F1442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717A8B-6F01-AE99-2060-29DB6D3EFD2A}"/>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5" name="Footer Placeholder 4">
            <a:extLst>
              <a:ext uri="{FF2B5EF4-FFF2-40B4-BE49-F238E27FC236}">
                <a16:creationId xmlns:a16="http://schemas.microsoft.com/office/drawing/2014/main" id="{4D13863E-E619-FA5E-A1D1-A3743C6521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4871BF-977B-65AF-F381-71C4161FAD76}"/>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3285855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C567C0-5A59-549E-60EE-E3D8544D5B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5DB672-08E8-01E6-24F3-C94AA82F47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0A5231-8DB8-347A-4288-958B88CEF736}"/>
              </a:ext>
            </a:extLst>
          </p:cNvPr>
          <p:cNvSpPr>
            <a:spLocks noGrp="1"/>
          </p:cNvSpPr>
          <p:nvPr>
            <p:ph type="dt" sz="half" idx="10"/>
          </p:nvPr>
        </p:nvSpPr>
        <p:spPr/>
        <p:txBody>
          <a:bodyPr/>
          <a:lstStyle/>
          <a:p>
            <a:fld id="{F64B4208-D0A6-4D1C-A7D4-9C6E1A9A5933}" type="datetimeFigureOut">
              <a:rPr lang="en-IN" smtClean="0"/>
              <a:t>03-08-2026</a:t>
            </a:fld>
            <a:endParaRPr lang="en-IN"/>
          </a:p>
        </p:txBody>
      </p:sp>
      <p:sp>
        <p:nvSpPr>
          <p:cNvPr id="5" name="Footer Placeholder 4">
            <a:extLst>
              <a:ext uri="{FF2B5EF4-FFF2-40B4-BE49-F238E27FC236}">
                <a16:creationId xmlns:a16="http://schemas.microsoft.com/office/drawing/2014/main" id="{CB8EEFB1-9C1C-4213-7707-2C4A351E4B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5FE741-ABEB-5176-F769-EFA59DB5EC3E}"/>
              </a:ext>
            </a:extLst>
          </p:cNvPr>
          <p:cNvSpPr>
            <a:spLocks noGrp="1"/>
          </p:cNvSpPr>
          <p:nvPr>
            <p:ph type="sldNum" sz="quarter" idx="12"/>
          </p:nvPr>
        </p:nvSpPr>
        <p:spPr/>
        <p:txBody>
          <a:bodyPr/>
          <a:lstStyle/>
          <a:p>
            <a:fld id="{63D93811-03C7-478F-B2FA-89D5B47C3A3D}" type="slidenum">
              <a:rPr lang="en-IN" smtClean="0"/>
              <a:t>‹#›</a:t>
            </a:fld>
            <a:endParaRPr lang="en-IN"/>
          </a:p>
        </p:txBody>
      </p:sp>
    </p:spTree>
    <p:extLst>
      <p:ext uri="{BB962C8B-B14F-4D97-AF65-F5344CB8AC3E}">
        <p14:creationId xmlns:p14="http://schemas.microsoft.com/office/powerpoint/2010/main" val="4091417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3538D3-C82B-64F5-65E0-D0D1003F59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0E7E76-EDBD-A34E-F86A-CD18C2216D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A9B3D5-D924-2900-D56A-398D7322B3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4B4208-D0A6-4D1C-A7D4-9C6E1A9A5933}" type="datetimeFigureOut">
              <a:rPr lang="en-IN" smtClean="0"/>
              <a:t>03-08-2026</a:t>
            </a:fld>
            <a:endParaRPr lang="en-IN"/>
          </a:p>
        </p:txBody>
      </p:sp>
      <p:sp>
        <p:nvSpPr>
          <p:cNvPr id="5" name="Footer Placeholder 4">
            <a:extLst>
              <a:ext uri="{FF2B5EF4-FFF2-40B4-BE49-F238E27FC236}">
                <a16:creationId xmlns:a16="http://schemas.microsoft.com/office/drawing/2014/main" id="{6B8A6207-A4E5-81F0-DE45-7C409FA375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3C79EA2-7BA6-37D9-EFDB-2C609CA468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D93811-03C7-478F-B2FA-89D5B47C3A3D}" type="slidenum">
              <a:rPr lang="en-IN" smtClean="0"/>
              <a:t>‹#›</a:t>
            </a:fld>
            <a:endParaRPr lang="en-IN"/>
          </a:p>
        </p:txBody>
      </p:sp>
    </p:spTree>
    <p:extLst>
      <p:ext uri="{BB962C8B-B14F-4D97-AF65-F5344CB8AC3E}">
        <p14:creationId xmlns:p14="http://schemas.microsoft.com/office/powerpoint/2010/main" val="1852567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E63E8-0706-88F4-E88E-C8DCBAB249C0}"/>
              </a:ext>
            </a:extLst>
          </p:cNvPr>
          <p:cNvSpPr>
            <a:spLocks noGrp="1"/>
          </p:cNvSpPr>
          <p:nvPr>
            <p:ph type="ctrTitle"/>
          </p:nvPr>
        </p:nvSpPr>
        <p:spPr>
          <a:xfrm>
            <a:off x="1524000" y="0"/>
            <a:ext cx="9144000" cy="2017643"/>
          </a:xfrm>
        </p:spPr>
        <p:txBody>
          <a:bodyPr/>
          <a:lstStyle/>
          <a:p>
            <a:r>
              <a:rPr lang="en-IN" dirty="0"/>
              <a:t>Gaming Chat Toxicity Classification</a:t>
            </a:r>
          </a:p>
        </p:txBody>
      </p:sp>
      <p:sp>
        <p:nvSpPr>
          <p:cNvPr id="3" name="Subtitle 2">
            <a:extLst>
              <a:ext uri="{FF2B5EF4-FFF2-40B4-BE49-F238E27FC236}">
                <a16:creationId xmlns:a16="http://schemas.microsoft.com/office/drawing/2014/main" id="{72081A91-D011-F805-3803-CA73ED72AE85}"/>
              </a:ext>
            </a:extLst>
          </p:cNvPr>
          <p:cNvSpPr>
            <a:spLocks noGrp="1"/>
          </p:cNvSpPr>
          <p:nvPr>
            <p:ph type="subTitle" idx="1"/>
          </p:nvPr>
        </p:nvSpPr>
        <p:spPr>
          <a:xfrm>
            <a:off x="357809" y="2017643"/>
            <a:ext cx="11655287" cy="3518452"/>
          </a:xfrm>
        </p:spPr>
        <p:txBody>
          <a:bodyPr>
            <a:normAutofit/>
          </a:bodyPr>
          <a:lstStyle/>
          <a:p>
            <a:r>
              <a:rPr lang="en-IN" sz="3200" b="1" dirty="0"/>
              <a:t>Project Description</a:t>
            </a:r>
          </a:p>
          <a:p>
            <a:r>
              <a:rPr lang="en-IN" dirty="0"/>
              <a:t>This project presents an intelligent gaming chat moderation system that automatically detects toxic messages using an Ensemble Machine Learning approach. The system </a:t>
            </a:r>
            <a:r>
              <a:rPr lang="en-IN" dirty="0" err="1"/>
              <a:t>analyzes</a:t>
            </a:r>
            <a:r>
              <a:rPr lang="en-IN" dirty="0"/>
              <a:t> player chat messages, identifies multiple toxicity categories—including Toxic, Severe Toxic, Obscene, Threat, Insult, and Identity Hate—and recommends appropriate moderation actions based on the severity of the detected content. By combining TF-IDF feature extraction with an Ensemble model consisting of Logistic Regression and Random Forest classifiers wrapped in a Multioutput Classifier, the system provides accurate multi-label classification for gaming chat moderation.</a:t>
            </a:r>
          </a:p>
          <a:p>
            <a:endParaRPr lang="en-IN" dirty="0"/>
          </a:p>
        </p:txBody>
      </p:sp>
    </p:spTree>
    <p:extLst>
      <p:ext uri="{BB962C8B-B14F-4D97-AF65-F5344CB8AC3E}">
        <p14:creationId xmlns:p14="http://schemas.microsoft.com/office/powerpoint/2010/main" val="2995852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3F9C4EC-55FE-F5AF-39E6-CEE11ABAFA73}"/>
              </a:ext>
            </a:extLst>
          </p:cNvPr>
          <p:cNvSpPr>
            <a:spLocks noGrp="1"/>
          </p:cNvSpPr>
          <p:nvPr>
            <p:ph type="body" idx="1"/>
          </p:nvPr>
        </p:nvSpPr>
        <p:spPr>
          <a:xfrm>
            <a:off x="193744" y="170415"/>
            <a:ext cx="5157787" cy="823912"/>
          </a:xfrm>
        </p:spPr>
        <p:txBody>
          <a:bodyPr>
            <a:normAutofit/>
          </a:bodyPr>
          <a:lstStyle/>
          <a:p>
            <a:pPr algn="ctr"/>
            <a:r>
              <a:rPr lang="en-IN" sz="3200" dirty="0"/>
              <a:t>Key Features</a:t>
            </a:r>
          </a:p>
          <a:p>
            <a:endParaRPr lang="en-IN" dirty="0"/>
          </a:p>
        </p:txBody>
      </p:sp>
      <p:sp>
        <p:nvSpPr>
          <p:cNvPr id="4" name="Content Placeholder 3">
            <a:extLst>
              <a:ext uri="{FF2B5EF4-FFF2-40B4-BE49-F238E27FC236}">
                <a16:creationId xmlns:a16="http://schemas.microsoft.com/office/drawing/2014/main" id="{85939D4E-A01E-4522-96DC-BFD602AF22E3}"/>
              </a:ext>
            </a:extLst>
          </p:cNvPr>
          <p:cNvSpPr>
            <a:spLocks noGrp="1"/>
          </p:cNvSpPr>
          <p:nvPr>
            <p:ph sz="half" idx="2"/>
          </p:nvPr>
        </p:nvSpPr>
        <p:spPr>
          <a:xfrm>
            <a:off x="84414" y="1218476"/>
            <a:ext cx="5157787" cy="5564049"/>
          </a:xfrm>
        </p:spPr>
        <p:txBody>
          <a:bodyPr>
            <a:normAutofit/>
          </a:bodyPr>
          <a:lstStyle/>
          <a:p>
            <a:pPr lvl="0"/>
            <a:r>
              <a:rPr lang="en-IN" dirty="0"/>
              <a:t>Multi-label toxicity classification </a:t>
            </a:r>
          </a:p>
          <a:p>
            <a:pPr lvl="0"/>
            <a:r>
              <a:rPr lang="en-IN" dirty="0"/>
              <a:t>TF-IDF text feature extraction </a:t>
            </a:r>
          </a:p>
          <a:p>
            <a:pPr lvl="0"/>
            <a:r>
              <a:rPr lang="en-IN" dirty="0"/>
              <a:t>Ensemble Machine Learning model </a:t>
            </a:r>
          </a:p>
          <a:p>
            <a:pPr lvl="0"/>
            <a:r>
              <a:rPr lang="en-IN" dirty="0"/>
              <a:t>Severity score calculation (1–5) </a:t>
            </a:r>
          </a:p>
          <a:p>
            <a:pPr lvl="0"/>
            <a:r>
              <a:rPr lang="en-IN" dirty="0"/>
              <a:t>Automated moderation recommendations </a:t>
            </a:r>
          </a:p>
          <a:p>
            <a:pPr lvl="0"/>
            <a:r>
              <a:rPr lang="en-IN" dirty="0"/>
              <a:t>Detection log generation </a:t>
            </a:r>
          </a:p>
          <a:p>
            <a:pPr lvl="0"/>
            <a:r>
              <a:rPr lang="en-IN" dirty="0"/>
              <a:t>Interactive </a:t>
            </a:r>
            <a:r>
              <a:rPr lang="en-IN" dirty="0" err="1"/>
              <a:t>Gradio</a:t>
            </a:r>
            <a:r>
              <a:rPr lang="en-IN" dirty="0"/>
              <a:t>-based user interface</a:t>
            </a:r>
          </a:p>
          <a:p>
            <a:endParaRPr lang="en-IN" dirty="0"/>
          </a:p>
        </p:txBody>
      </p:sp>
      <p:sp>
        <p:nvSpPr>
          <p:cNvPr id="5" name="Text Placeholder 4">
            <a:extLst>
              <a:ext uri="{FF2B5EF4-FFF2-40B4-BE49-F238E27FC236}">
                <a16:creationId xmlns:a16="http://schemas.microsoft.com/office/drawing/2014/main" id="{24212966-1E04-C54E-7B8F-E5ACCE987FFA}"/>
              </a:ext>
            </a:extLst>
          </p:cNvPr>
          <p:cNvSpPr>
            <a:spLocks noGrp="1"/>
          </p:cNvSpPr>
          <p:nvPr>
            <p:ph type="body" sz="quarter" idx="3"/>
          </p:nvPr>
        </p:nvSpPr>
        <p:spPr>
          <a:xfrm>
            <a:off x="6172200" y="170415"/>
            <a:ext cx="5183188" cy="411956"/>
          </a:xfrm>
        </p:spPr>
        <p:txBody>
          <a:bodyPr>
            <a:noAutofit/>
          </a:bodyPr>
          <a:lstStyle/>
          <a:p>
            <a:pPr algn="ctr"/>
            <a:r>
              <a:rPr lang="en-IN" sz="3200" dirty="0"/>
              <a:t>Technologies Used</a:t>
            </a:r>
          </a:p>
        </p:txBody>
      </p:sp>
      <p:sp>
        <p:nvSpPr>
          <p:cNvPr id="6" name="Content Placeholder 5">
            <a:extLst>
              <a:ext uri="{FF2B5EF4-FFF2-40B4-BE49-F238E27FC236}">
                <a16:creationId xmlns:a16="http://schemas.microsoft.com/office/drawing/2014/main" id="{1A9BFB2B-BC67-5C51-CD3F-5F4A3A1ED28A}"/>
              </a:ext>
            </a:extLst>
          </p:cNvPr>
          <p:cNvSpPr>
            <a:spLocks noGrp="1"/>
          </p:cNvSpPr>
          <p:nvPr>
            <p:ph sz="quarter" idx="4"/>
          </p:nvPr>
        </p:nvSpPr>
        <p:spPr>
          <a:xfrm>
            <a:off x="6172200" y="1218475"/>
            <a:ext cx="5183188" cy="5564049"/>
          </a:xfrm>
        </p:spPr>
        <p:txBody>
          <a:bodyPr>
            <a:normAutofit/>
          </a:bodyPr>
          <a:lstStyle/>
          <a:p>
            <a:pPr lvl="0"/>
            <a:r>
              <a:rPr lang="en-IN" dirty="0"/>
              <a:t>Python </a:t>
            </a:r>
          </a:p>
          <a:p>
            <a:pPr lvl="0"/>
            <a:r>
              <a:rPr lang="en-IN" dirty="0"/>
              <a:t>Pandas </a:t>
            </a:r>
          </a:p>
          <a:p>
            <a:pPr lvl="0"/>
            <a:r>
              <a:rPr lang="en-IN" dirty="0"/>
              <a:t>NumPy </a:t>
            </a:r>
          </a:p>
          <a:p>
            <a:pPr lvl="0"/>
            <a:r>
              <a:rPr lang="en-IN" dirty="0"/>
              <a:t>Scikit-learn </a:t>
            </a:r>
          </a:p>
          <a:p>
            <a:pPr lvl="0"/>
            <a:r>
              <a:rPr lang="en-IN" dirty="0"/>
              <a:t>TF-IDF Vectorizer </a:t>
            </a:r>
          </a:p>
          <a:p>
            <a:pPr lvl="0"/>
            <a:r>
              <a:rPr lang="en-IN" dirty="0"/>
              <a:t>Logistic Regression </a:t>
            </a:r>
          </a:p>
          <a:p>
            <a:pPr lvl="0"/>
            <a:r>
              <a:rPr lang="en-IN" dirty="0"/>
              <a:t>Random Forest </a:t>
            </a:r>
          </a:p>
          <a:p>
            <a:pPr lvl="0"/>
            <a:r>
              <a:rPr lang="en-IN" dirty="0"/>
              <a:t>Voting Classifier </a:t>
            </a:r>
          </a:p>
          <a:p>
            <a:pPr lvl="0"/>
            <a:r>
              <a:rPr lang="en-IN" dirty="0"/>
              <a:t>Multioutput Classifier </a:t>
            </a:r>
          </a:p>
          <a:p>
            <a:pPr lvl="0"/>
            <a:r>
              <a:rPr lang="en-IN" dirty="0" err="1"/>
              <a:t>Gradio</a:t>
            </a:r>
            <a:r>
              <a:rPr lang="en-IN" dirty="0"/>
              <a:t> </a:t>
            </a:r>
          </a:p>
          <a:p>
            <a:endParaRPr lang="en-IN" dirty="0"/>
          </a:p>
        </p:txBody>
      </p:sp>
    </p:spTree>
    <p:extLst>
      <p:ext uri="{BB962C8B-B14F-4D97-AF65-F5344CB8AC3E}">
        <p14:creationId xmlns:p14="http://schemas.microsoft.com/office/powerpoint/2010/main" val="2140404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B860E32F-743B-6524-AA07-3C02E9EF462A}"/>
              </a:ext>
            </a:extLst>
          </p:cNvPr>
          <p:cNvGraphicFramePr>
            <a:graphicFrameLocks noGrp="1"/>
          </p:cNvGraphicFramePr>
          <p:nvPr>
            <p:ph sz="half" idx="2"/>
            <p:extLst>
              <p:ext uri="{D42A27DB-BD31-4B8C-83A1-F6EECF244321}">
                <p14:modId xmlns:p14="http://schemas.microsoft.com/office/powerpoint/2010/main" val="3416290878"/>
              </p:ext>
            </p:extLst>
          </p:nvPr>
        </p:nvGraphicFramePr>
        <p:xfrm>
          <a:off x="6268279" y="1529089"/>
          <a:ext cx="5174974" cy="4564053"/>
        </p:xfrm>
        <a:graphic>
          <a:graphicData uri="http://schemas.openxmlformats.org/drawingml/2006/table">
            <a:tbl>
              <a:tblPr/>
              <a:tblGrid>
                <a:gridCol w="2584174">
                  <a:extLst>
                    <a:ext uri="{9D8B030D-6E8A-4147-A177-3AD203B41FA5}">
                      <a16:colId xmlns:a16="http://schemas.microsoft.com/office/drawing/2014/main" val="3150827908"/>
                    </a:ext>
                  </a:extLst>
                </a:gridCol>
                <a:gridCol w="2590800">
                  <a:extLst>
                    <a:ext uri="{9D8B030D-6E8A-4147-A177-3AD203B41FA5}">
                      <a16:colId xmlns:a16="http://schemas.microsoft.com/office/drawing/2014/main" val="545334697"/>
                    </a:ext>
                  </a:extLst>
                </a:gridCol>
              </a:tblGrid>
              <a:tr h="708727">
                <a:tc>
                  <a:txBody>
                    <a:bodyPr/>
                    <a:lstStyle/>
                    <a:p>
                      <a:pPr>
                        <a:buNone/>
                      </a:pPr>
                      <a:r>
                        <a:rPr lang="en-IN" sz="3200" dirty="0"/>
                        <a:t>Severity</a:t>
                      </a:r>
                    </a:p>
                  </a:txBody>
                  <a:tcPr marL="45057" marR="45057" marT="22529" marB="22529" anchor="ctr">
                    <a:lnL>
                      <a:noFill/>
                    </a:lnL>
                    <a:lnR>
                      <a:noFill/>
                    </a:lnR>
                    <a:lnT>
                      <a:noFill/>
                    </a:lnT>
                    <a:lnB>
                      <a:noFill/>
                    </a:lnB>
                    <a:noFill/>
                  </a:tcPr>
                </a:tc>
                <a:tc>
                  <a:txBody>
                    <a:bodyPr/>
                    <a:lstStyle/>
                    <a:p>
                      <a:pPr>
                        <a:buNone/>
                      </a:pPr>
                      <a:r>
                        <a:rPr lang="en-IN" sz="3200" dirty="0"/>
                        <a:t>Action</a:t>
                      </a:r>
                    </a:p>
                  </a:txBody>
                  <a:tcPr marL="45057" marR="45057" marT="22529" marB="22529" anchor="ctr">
                    <a:lnL>
                      <a:noFill/>
                    </a:lnL>
                    <a:lnR>
                      <a:noFill/>
                    </a:lnR>
                    <a:lnT>
                      <a:noFill/>
                    </a:lnT>
                    <a:lnB>
                      <a:noFill/>
                    </a:lnB>
                    <a:noFill/>
                  </a:tcPr>
                </a:tc>
                <a:extLst>
                  <a:ext uri="{0D108BD9-81ED-4DB2-BD59-A6C34878D82A}">
                    <a16:rowId xmlns:a16="http://schemas.microsoft.com/office/drawing/2014/main" val="1970893173"/>
                  </a:ext>
                </a:extLst>
              </a:tr>
              <a:tr h="708727">
                <a:tc>
                  <a:txBody>
                    <a:bodyPr/>
                    <a:lstStyle/>
                    <a:p>
                      <a:pPr>
                        <a:buNone/>
                      </a:pPr>
                      <a:r>
                        <a:rPr lang="en-IN" sz="3200" dirty="0"/>
                        <a:t>1</a:t>
                      </a:r>
                    </a:p>
                  </a:txBody>
                  <a:tcPr marL="45057" marR="45057" marT="22529" marB="22529" anchor="ctr">
                    <a:lnL>
                      <a:noFill/>
                    </a:lnL>
                    <a:lnR>
                      <a:noFill/>
                    </a:lnR>
                    <a:lnT>
                      <a:noFill/>
                    </a:lnT>
                    <a:lnB>
                      <a:noFill/>
                    </a:lnB>
                    <a:noFill/>
                  </a:tcPr>
                </a:tc>
                <a:tc>
                  <a:txBody>
                    <a:bodyPr/>
                    <a:lstStyle/>
                    <a:p>
                      <a:pPr>
                        <a:buNone/>
                      </a:pPr>
                      <a:r>
                        <a:rPr lang="en-IN" sz="3200" dirty="0"/>
                        <a:t>Allow</a:t>
                      </a:r>
                    </a:p>
                  </a:txBody>
                  <a:tcPr marL="45057" marR="45057" marT="22529" marB="22529" anchor="ctr">
                    <a:lnL>
                      <a:noFill/>
                    </a:lnL>
                    <a:lnR>
                      <a:noFill/>
                    </a:lnR>
                    <a:lnT>
                      <a:noFill/>
                    </a:lnT>
                    <a:lnB>
                      <a:noFill/>
                    </a:lnB>
                    <a:noFill/>
                  </a:tcPr>
                </a:tc>
                <a:extLst>
                  <a:ext uri="{0D108BD9-81ED-4DB2-BD59-A6C34878D82A}">
                    <a16:rowId xmlns:a16="http://schemas.microsoft.com/office/drawing/2014/main" val="372547591"/>
                  </a:ext>
                </a:extLst>
              </a:tr>
              <a:tr h="708727">
                <a:tc>
                  <a:txBody>
                    <a:bodyPr/>
                    <a:lstStyle/>
                    <a:p>
                      <a:pPr>
                        <a:buNone/>
                      </a:pPr>
                      <a:r>
                        <a:rPr lang="en-IN" sz="3200" dirty="0"/>
                        <a:t>2</a:t>
                      </a:r>
                    </a:p>
                  </a:txBody>
                  <a:tcPr marL="45057" marR="45057" marT="22529" marB="22529" anchor="ctr">
                    <a:lnL>
                      <a:noFill/>
                    </a:lnL>
                    <a:lnR>
                      <a:noFill/>
                    </a:lnR>
                    <a:lnT>
                      <a:noFill/>
                    </a:lnT>
                    <a:lnB>
                      <a:noFill/>
                    </a:lnB>
                    <a:noFill/>
                  </a:tcPr>
                </a:tc>
                <a:tc>
                  <a:txBody>
                    <a:bodyPr/>
                    <a:lstStyle/>
                    <a:p>
                      <a:pPr>
                        <a:buNone/>
                      </a:pPr>
                      <a:r>
                        <a:rPr lang="en-IN" sz="3200" dirty="0"/>
                        <a:t>Warning</a:t>
                      </a:r>
                    </a:p>
                  </a:txBody>
                  <a:tcPr marL="45057" marR="45057" marT="22529" marB="22529" anchor="ctr">
                    <a:lnL>
                      <a:noFill/>
                    </a:lnL>
                    <a:lnR>
                      <a:noFill/>
                    </a:lnR>
                    <a:lnT>
                      <a:noFill/>
                    </a:lnT>
                    <a:lnB>
                      <a:noFill/>
                    </a:lnB>
                    <a:noFill/>
                  </a:tcPr>
                </a:tc>
                <a:extLst>
                  <a:ext uri="{0D108BD9-81ED-4DB2-BD59-A6C34878D82A}">
                    <a16:rowId xmlns:a16="http://schemas.microsoft.com/office/drawing/2014/main" val="3903456661"/>
                  </a:ext>
                </a:extLst>
              </a:tr>
              <a:tr h="708727">
                <a:tc>
                  <a:txBody>
                    <a:bodyPr/>
                    <a:lstStyle/>
                    <a:p>
                      <a:pPr>
                        <a:buNone/>
                      </a:pPr>
                      <a:r>
                        <a:rPr lang="en-IN" sz="3200"/>
                        <a:t>3</a:t>
                      </a:r>
                    </a:p>
                  </a:txBody>
                  <a:tcPr marL="45057" marR="45057" marT="22529" marB="22529" anchor="ctr">
                    <a:lnL>
                      <a:noFill/>
                    </a:lnL>
                    <a:lnR>
                      <a:noFill/>
                    </a:lnR>
                    <a:lnT>
                      <a:noFill/>
                    </a:lnT>
                    <a:lnB>
                      <a:noFill/>
                    </a:lnB>
                    <a:noFill/>
                  </a:tcPr>
                </a:tc>
                <a:tc>
                  <a:txBody>
                    <a:bodyPr/>
                    <a:lstStyle/>
                    <a:p>
                      <a:pPr>
                        <a:buNone/>
                      </a:pPr>
                      <a:r>
                        <a:rPr lang="en-IN" sz="3200" dirty="0"/>
                        <a:t>Mute</a:t>
                      </a:r>
                    </a:p>
                  </a:txBody>
                  <a:tcPr marL="45057" marR="45057" marT="22529" marB="22529" anchor="ctr">
                    <a:lnL>
                      <a:noFill/>
                    </a:lnL>
                    <a:lnR>
                      <a:noFill/>
                    </a:lnR>
                    <a:lnT>
                      <a:noFill/>
                    </a:lnT>
                    <a:lnB>
                      <a:noFill/>
                    </a:lnB>
                    <a:noFill/>
                  </a:tcPr>
                </a:tc>
                <a:extLst>
                  <a:ext uri="{0D108BD9-81ED-4DB2-BD59-A6C34878D82A}">
                    <a16:rowId xmlns:a16="http://schemas.microsoft.com/office/drawing/2014/main" val="3156177524"/>
                  </a:ext>
                </a:extLst>
              </a:tr>
              <a:tr h="708727">
                <a:tc>
                  <a:txBody>
                    <a:bodyPr/>
                    <a:lstStyle/>
                    <a:p>
                      <a:pPr>
                        <a:buNone/>
                      </a:pPr>
                      <a:r>
                        <a:rPr lang="en-IN" sz="3200"/>
                        <a:t>4</a:t>
                      </a:r>
                    </a:p>
                  </a:txBody>
                  <a:tcPr marL="45057" marR="45057" marT="22529" marB="22529" anchor="ctr">
                    <a:lnL>
                      <a:noFill/>
                    </a:lnL>
                    <a:lnR>
                      <a:noFill/>
                    </a:lnR>
                    <a:lnT>
                      <a:noFill/>
                    </a:lnT>
                    <a:lnB>
                      <a:noFill/>
                    </a:lnB>
                    <a:noFill/>
                  </a:tcPr>
                </a:tc>
                <a:tc>
                  <a:txBody>
                    <a:bodyPr/>
                    <a:lstStyle/>
                    <a:p>
                      <a:pPr>
                        <a:buNone/>
                      </a:pPr>
                      <a:r>
                        <a:rPr lang="en-IN" sz="3200" dirty="0"/>
                        <a:t>Temporary Ban</a:t>
                      </a:r>
                    </a:p>
                  </a:txBody>
                  <a:tcPr marL="45057" marR="45057" marT="22529" marB="22529" anchor="ctr">
                    <a:lnL>
                      <a:noFill/>
                    </a:lnL>
                    <a:lnR>
                      <a:noFill/>
                    </a:lnR>
                    <a:lnT>
                      <a:noFill/>
                    </a:lnT>
                    <a:lnB>
                      <a:noFill/>
                    </a:lnB>
                    <a:noFill/>
                  </a:tcPr>
                </a:tc>
                <a:extLst>
                  <a:ext uri="{0D108BD9-81ED-4DB2-BD59-A6C34878D82A}">
                    <a16:rowId xmlns:a16="http://schemas.microsoft.com/office/drawing/2014/main" val="3394708186"/>
                  </a:ext>
                </a:extLst>
              </a:tr>
              <a:tr h="708727">
                <a:tc>
                  <a:txBody>
                    <a:bodyPr/>
                    <a:lstStyle/>
                    <a:p>
                      <a:pPr>
                        <a:buNone/>
                      </a:pPr>
                      <a:r>
                        <a:rPr lang="en-IN" sz="3200"/>
                        <a:t>5</a:t>
                      </a:r>
                    </a:p>
                  </a:txBody>
                  <a:tcPr marL="45057" marR="45057" marT="22529" marB="22529" anchor="ctr">
                    <a:lnL>
                      <a:noFill/>
                    </a:lnL>
                    <a:lnR>
                      <a:noFill/>
                    </a:lnR>
                    <a:lnT>
                      <a:noFill/>
                    </a:lnT>
                    <a:lnB>
                      <a:noFill/>
                    </a:lnB>
                    <a:noFill/>
                  </a:tcPr>
                </a:tc>
                <a:tc>
                  <a:txBody>
                    <a:bodyPr/>
                    <a:lstStyle/>
                    <a:p>
                      <a:pPr>
                        <a:buNone/>
                      </a:pPr>
                      <a:r>
                        <a:rPr lang="en-IN" sz="3200" dirty="0"/>
                        <a:t>Auto Ban</a:t>
                      </a:r>
                    </a:p>
                  </a:txBody>
                  <a:tcPr marL="45057" marR="45057" marT="22529" marB="22529" anchor="ctr">
                    <a:lnL>
                      <a:noFill/>
                    </a:lnL>
                    <a:lnR>
                      <a:noFill/>
                    </a:lnR>
                    <a:lnT>
                      <a:noFill/>
                    </a:lnT>
                    <a:lnB>
                      <a:noFill/>
                    </a:lnB>
                    <a:noFill/>
                  </a:tcPr>
                </a:tc>
                <a:extLst>
                  <a:ext uri="{0D108BD9-81ED-4DB2-BD59-A6C34878D82A}">
                    <a16:rowId xmlns:a16="http://schemas.microsoft.com/office/drawing/2014/main" val="2503908894"/>
                  </a:ext>
                </a:extLst>
              </a:tr>
            </a:tbl>
          </a:graphicData>
        </a:graphic>
      </p:graphicFrame>
      <p:sp>
        <p:nvSpPr>
          <p:cNvPr id="5" name="Title 1">
            <a:extLst>
              <a:ext uri="{FF2B5EF4-FFF2-40B4-BE49-F238E27FC236}">
                <a16:creationId xmlns:a16="http://schemas.microsoft.com/office/drawing/2014/main" id="{C79875B8-83A7-26C1-9C76-A89A6298B227}"/>
              </a:ext>
            </a:extLst>
          </p:cNvPr>
          <p:cNvSpPr>
            <a:spLocks noGrp="1"/>
          </p:cNvSpPr>
          <p:nvPr>
            <p:ph sz="half" idx="1"/>
          </p:nvPr>
        </p:nvSpPr>
        <p:spPr>
          <a:xfrm>
            <a:off x="619125" y="185738"/>
            <a:ext cx="5181600" cy="6562932"/>
          </a:xfrm>
        </p:spPr>
        <p:txBody>
          <a:bodyPr/>
          <a:lstStyle/>
          <a:p>
            <a:pPr algn="ctr"/>
            <a:r>
              <a:rPr lang="en-IN" sz="4800" b="1" dirty="0"/>
              <a:t>Toxicity Categories</a:t>
            </a:r>
          </a:p>
          <a:p>
            <a:pPr lvl="0"/>
            <a:r>
              <a:rPr lang="en-IN" sz="3200" dirty="0"/>
              <a:t>Toxic </a:t>
            </a:r>
          </a:p>
          <a:p>
            <a:pPr lvl="0"/>
            <a:r>
              <a:rPr lang="en-IN" sz="3200" dirty="0"/>
              <a:t>Severe Toxic </a:t>
            </a:r>
          </a:p>
          <a:p>
            <a:pPr lvl="0"/>
            <a:r>
              <a:rPr lang="en-IN" sz="3200" dirty="0"/>
              <a:t>Obscene </a:t>
            </a:r>
          </a:p>
          <a:p>
            <a:pPr lvl="0"/>
            <a:r>
              <a:rPr lang="en-IN" sz="3200" dirty="0"/>
              <a:t>Threat </a:t>
            </a:r>
          </a:p>
          <a:p>
            <a:pPr lvl="0"/>
            <a:r>
              <a:rPr lang="en-IN" sz="3200" dirty="0"/>
              <a:t>Insult </a:t>
            </a:r>
          </a:p>
          <a:p>
            <a:pPr lvl="0"/>
            <a:r>
              <a:rPr lang="en-IN" sz="3200" dirty="0"/>
              <a:t>Identity Hate</a:t>
            </a:r>
          </a:p>
          <a:p>
            <a:endParaRPr lang="en-IN" dirty="0"/>
          </a:p>
        </p:txBody>
      </p:sp>
      <p:sp>
        <p:nvSpPr>
          <p:cNvPr id="8" name="TextBox 7">
            <a:extLst>
              <a:ext uri="{FF2B5EF4-FFF2-40B4-BE49-F238E27FC236}">
                <a16:creationId xmlns:a16="http://schemas.microsoft.com/office/drawing/2014/main" id="{9C1EBC59-982E-7F30-FDE1-9840DFCBF1A4}"/>
              </a:ext>
            </a:extLst>
          </p:cNvPr>
          <p:cNvSpPr txBox="1"/>
          <p:nvPr/>
        </p:nvSpPr>
        <p:spPr>
          <a:xfrm>
            <a:off x="6391277" y="109330"/>
            <a:ext cx="5051976" cy="1569660"/>
          </a:xfrm>
          <a:prstGeom prst="rect">
            <a:avLst/>
          </a:prstGeom>
          <a:noFill/>
        </p:spPr>
        <p:txBody>
          <a:bodyPr wrap="square">
            <a:spAutoFit/>
          </a:bodyPr>
          <a:lstStyle/>
          <a:p>
            <a:pPr marL="685800" indent="-685800" algn="ctr">
              <a:buFont typeface="Arial" panose="020B0604020202020204" pitchFamily="34" charset="0"/>
              <a:buChar char="•"/>
            </a:pPr>
            <a:r>
              <a:rPr lang="en-IN" sz="4800" b="1" dirty="0"/>
              <a:t>Moderation Actions</a:t>
            </a:r>
          </a:p>
        </p:txBody>
      </p:sp>
    </p:spTree>
    <p:extLst>
      <p:ext uri="{BB962C8B-B14F-4D97-AF65-F5344CB8AC3E}">
        <p14:creationId xmlns:p14="http://schemas.microsoft.com/office/powerpoint/2010/main" val="3339729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9BC0F-0787-231A-3692-AB6630F1AA6B}"/>
              </a:ext>
            </a:extLst>
          </p:cNvPr>
          <p:cNvSpPr>
            <a:spLocks noGrp="1"/>
          </p:cNvSpPr>
          <p:nvPr>
            <p:ph type="title"/>
          </p:nvPr>
        </p:nvSpPr>
        <p:spPr>
          <a:xfrm>
            <a:off x="838200" y="86830"/>
            <a:ext cx="10515600" cy="509518"/>
          </a:xfrm>
        </p:spPr>
        <p:txBody>
          <a:bodyPr>
            <a:normAutofit fontScale="90000"/>
          </a:bodyPr>
          <a:lstStyle/>
          <a:p>
            <a:r>
              <a:rPr lang="en-IN" dirty="0"/>
              <a:t>Introduction</a:t>
            </a:r>
          </a:p>
        </p:txBody>
      </p:sp>
      <p:sp>
        <p:nvSpPr>
          <p:cNvPr id="3" name="Content Placeholder 2">
            <a:extLst>
              <a:ext uri="{FF2B5EF4-FFF2-40B4-BE49-F238E27FC236}">
                <a16:creationId xmlns:a16="http://schemas.microsoft.com/office/drawing/2014/main" id="{23DB0FD0-BA28-0AFF-2EC9-2C22B3A43D10}"/>
              </a:ext>
            </a:extLst>
          </p:cNvPr>
          <p:cNvSpPr>
            <a:spLocks noGrp="1"/>
          </p:cNvSpPr>
          <p:nvPr>
            <p:ph idx="1"/>
          </p:nvPr>
        </p:nvSpPr>
        <p:spPr>
          <a:xfrm>
            <a:off x="0" y="596348"/>
            <a:ext cx="12192000" cy="6261652"/>
          </a:xfrm>
        </p:spPr>
        <p:txBody>
          <a:bodyPr>
            <a:normAutofit fontScale="70000" lnSpcReduction="20000"/>
          </a:bodyPr>
          <a:lstStyle/>
          <a:p>
            <a:r>
              <a:rPr lang="en-IN" dirty="0"/>
              <a:t>Online multiplayer games have become one of the most popular forms of entertainment, allowing millions of players to communicate and collaborate through real-time chat systems. While these chat features improve teamwork and player interaction, they also create opportunities for toxic </a:t>
            </a:r>
            <a:r>
              <a:rPr lang="en-IN" dirty="0" err="1"/>
              <a:t>behavior</a:t>
            </a:r>
            <a:r>
              <a:rPr lang="en-IN" dirty="0"/>
              <a:t> such as abusive language, insults, threats, hate speech, and harassment.</a:t>
            </a:r>
          </a:p>
          <a:p>
            <a:r>
              <a:rPr lang="en-IN" dirty="0"/>
              <a:t>Toxic communication negatively affects the gaming experience by reducing player engagement, encouraging cyberbullying, and creating an unsafe environment for users. Manual moderation of millions of chat messages is time-consuming, inconsistent, and difficult to scale.</a:t>
            </a:r>
          </a:p>
          <a:p>
            <a:r>
              <a:rPr lang="en-IN" dirty="0"/>
              <a:t>To address this challenge, this project proposes an </a:t>
            </a:r>
            <a:r>
              <a:rPr lang="en-IN" b="1" dirty="0"/>
              <a:t>Ensemble Machine Learning-based Gaming Chat Toxicity Classification System</a:t>
            </a:r>
            <a:r>
              <a:rPr lang="en-IN" dirty="0"/>
              <a:t> that automatically detects toxic messages in real time. The system uses </a:t>
            </a:r>
            <a:r>
              <a:rPr lang="en-IN" b="1" dirty="0"/>
              <a:t>TF-IDF feature extraction</a:t>
            </a:r>
            <a:r>
              <a:rPr lang="en-IN" dirty="0"/>
              <a:t> along with an </a:t>
            </a:r>
            <a:r>
              <a:rPr lang="en-IN" b="1" dirty="0"/>
              <a:t>Ensemble Model</a:t>
            </a:r>
            <a:r>
              <a:rPr lang="en-IN" dirty="0"/>
              <a:t> combining </a:t>
            </a:r>
            <a:r>
              <a:rPr lang="en-IN" b="1" dirty="0"/>
              <a:t>Logistic Regression</a:t>
            </a:r>
            <a:r>
              <a:rPr lang="en-IN" dirty="0"/>
              <a:t> and </a:t>
            </a:r>
            <a:r>
              <a:rPr lang="en-IN" b="1" dirty="0"/>
              <a:t>Random Forest</a:t>
            </a:r>
            <a:r>
              <a:rPr lang="en-IN" dirty="0"/>
              <a:t> classifiers wrapped inside a </a:t>
            </a:r>
            <a:r>
              <a:rPr lang="en-IN" b="1" dirty="0" err="1"/>
              <a:t>MultiOutputClassifier</a:t>
            </a:r>
            <a:r>
              <a:rPr lang="en-IN" dirty="0"/>
              <a:t> to perform </a:t>
            </a:r>
            <a:r>
              <a:rPr lang="en-IN" b="1" dirty="0"/>
              <a:t>multi-label toxicity classification</a:t>
            </a:r>
            <a:r>
              <a:rPr lang="en-IN" dirty="0"/>
              <a:t>.</a:t>
            </a:r>
          </a:p>
          <a:p>
            <a:r>
              <a:rPr lang="en-IN" dirty="0"/>
              <a:t>The model identifies six toxicity categories:</a:t>
            </a:r>
          </a:p>
          <a:p>
            <a:pPr lvl="0"/>
            <a:r>
              <a:rPr lang="en-IN" dirty="0"/>
              <a:t>Toxic </a:t>
            </a:r>
          </a:p>
          <a:p>
            <a:pPr lvl="0"/>
            <a:r>
              <a:rPr lang="en-IN" dirty="0"/>
              <a:t>Severe Toxic </a:t>
            </a:r>
          </a:p>
          <a:p>
            <a:pPr lvl="0"/>
            <a:r>
              <a:rPr lang="en-IN" dirty="0"/>
              <a:t>Obscene </a:t>
            </a:r>
          </a:p>
          <a:p>
            <a:pPr lvl="0"/>
            <a:r>
              <a:rPr lang="en-IN" dirty="0"/>
              <a:t>Threat </a:t>
            </a:r>
          </a:p>
          <a:p>
            <a:pPr lvl="0"/>
            <a:r>
              <a:rPr lang="en-IN" dirty="0"/>
              <a:t>Insult </a:t>
            </a:r>
          </a:p>
          <a:p>
            <a:pPr lvl="0"/>
            <a:r>
              <a:rPr lang="en-IN" dirty="0"/>
              <a:t>Identity Hate </a:t>
            </a:r>
          </a:p>
          <a:p>
            <a:r>
              <a:rPr lang="en-IN" dirty="0"/>
              <a:t>Based on the detected categories, the system calculates a </a:t>
            </a:r>
            <a:r>
              <a:rPr lang="en-IN" b="1" dirty="0"/>
              <a:t>severity score</a:t>
            </a:r>
            <a:r>
              <a:rPr lang="en-IN" dirty="0"/>
              <a:t> and recommends an appropriate moderation action such as </a:t>
            </a:r>
            <a:r>
              <a:rPr lang="en-IN" b="1" dirty="0"/>
              <a:t>Allow, Warning, Mute, Temporary Ban, or Auto Ban</a:t>
            </a:r>
            <a:r>
              <a:rPr lang="en-IN" dirty="0"/>
              <a:t>. This intelligent moderation system helps gaming platforms maintain a safer, more respectful, and enjoyable environment for all players.</a:t>
            </a:r>
          </a:p>
          <a:p>
            <a:endParaRPr lang="en-IN" dirty="0"/>
          </a:p>
        </p:txBody>
      </p:sp>
    </p:spTree>
    <p:extLst>
      <p:ext uri="{BB962C8B-B14F-4D97-AF65-F5344CB8AC3E}">
        <p14:creationId xmlns:p14="http://schemas.microsoft.com/office/powerpoint/2010/main" val="3326302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72828-F121-338E-116B-02669152DB03}"/>
              </a:ext>
            </a:extLst>
          </p:cNvPr>
          <p:cNvSpPr>
            <a:spLocks noGrp="1"/>
          </p:cNvSpPr>
          <p:nvPr>
            <p:ph type="title"/>
          </p:nvPr>
        </p:nvSpPr>
        <p:spPr>
          <a:xfrm>
            <a:off x="357809" y="86830"/>
            <a:ext cx="10995991" cy="564391"/>
          </a:xfrm>
        </p:spPr>
        <p:txBody>
          <a:bodyPr>
            <a:normAutofit fontScale="90000"/>
          </a:bodyPr>
          <a:lstStyle/>
          <a:p>
            <a:r>
              <a:rPr lang="en-IN" dirty="0"/>
              <a:t>Problem Statement</a:t>
            </a:r>
          </a:p>
        </p:txBody>
      </p:sp>
      <p:sp>
        <p:nvSpPr>
          <p:cNvPr id="3" name="Content Placeholder 2">
            <a:extLst>
              <a:ext uri="{FF2B5EF4-FFF2-40B4-BE49-F238E27FC236}">
                <a16:creationId xmlns:a16="http://schemas.microsoft.com/office/drawing/2014/main" id="{A7819DAA-51CD-5913-A50D-44427805DDDE}"/>
              </a:ext>
            </a:extLst>
          </p:cNvPr>
          <p:cNvSpPr>
            <a:spLocks noGrp="1"/>
          </p:cNvSpPr>
          <p:nvPr>
            <p:ph idx="1"/>
          </p:nvPr>
        </p:nvSpPr>
        <p:spPr>
          <a:xfrm>
            <a:off x="0" y="651222"/>
            <a:ext cx="12192000" cy="6368426"/>
          </a:xfrm>
        </p:spPr>
        <p:txBody>
          <a:bodyPr>
            <a:normAutofit fontScale="70000" lnSpcReduction="20000"/>
          </a:bodyPr>
          <a:lstStyle/>
          <a:p>
            <a:r>
              <a:rPr lang="en-IN" sz="2900" dirty="0"/>
              <a:t>Online multiplayer games enable players to communicate through real-time chat, enhancing teamwork and collaboration. However, these chat systems are often misused to spread abusive language, insults, threats, hate speech, and other forms of toxic </a:t>
            </a:r>
            <a:r>
              <a:rPr lang="en-IN" sz="2900" dirty="0" err="1"/>
              <a:t>behavior</a:t>
            </a:r>
            <a:r>
              <a:rPr lang="en-IN" sz="2900" dirty="0"/>
              <a:t>. Such toxic communication creates a negative gaming environment, discourages player participation, and can lead to cyberbullying and harassment.</a:t>
            </a:r>
          </a:p>
          <a:p>
            <a:r>
              <a:rPr lang="en-IN" sz="2900" dirty="0"/>
              <a:t>Traditional moderation methods rely heavily on human moderators, making them time-consuming, expensive, and unable to keep pace with the massive volume of chat messages generated every day. Furthermore, a single message may contain multiple forms of toxicity simultaneously, making accurate moderation even more challenging.</a:t>
            </a:r>
          </a:p>
          <a:p>
            <a:r>
              <a:rPr lang="en-IN" sz="2900" dirty="0"/>
              <a:t>Therefore, there is a need for an automated, intelligent, and scalable system capable of identifying multiple toxicity categories in real time and recommending appropriate moderation actions. This project addresses this challenge by developing an </a:t>
            </a:r>
            <a:r>
              <a:rPr lang="en-IN" sz="2900" b="1" dirty="0"/>
              <a:t>Ensemble Machine Learning-based Gaming Chat Toxicity Classification System</a:t>
            </a:r>
            <a:r>
              <a:rPr lang="en-IN" sz="2900" dirty="0"/>
              <a:t> that performs multi-label classification, calculates toxicity severity, and supports automated moderation.</a:t>
            </a:r>
          </a:p>
          <a:p>
            <a:br>
              <a:rPr lang="en-IN" dirty="0"/>
            </a:br>
            <a:endParaRPr lang="en-IN" dirty="0"/>
          </a:p>
          <a:p>
            <a:r>
              <a:rPr lang="en-IN" b="1" dirty="0"/>
              <a:t>Key Challenges</a:t>
            </a:r>
          </a:p>
          <a:p>
            <a:pPr lvl="0"/>
            <a:r>
              <a:rPr lang="en-IN" dirty="0"/>
              <a:t>Millions of gaming chat messages are generated every day. </a:t>
            </a:r>
          </a:p>
          <a:p>
            <a:pPr lvl="0"/>
            <a:r>
              <a:rPr lang="en-IN" dirty="0"/>
              <a:t>Toxic </a:t>
            </a:r>
            <a:r>
              <a:rPr lang="en-IN" dirty="0" err="1"/>
              <a:t>behavior</a:t>
            </a:r>
            <a:r>
              <a:rPr lang="en-IN" dirty="0"/>
              <a:t> includes insults, threats, hate speech, and abusive language. </a:t>
            </a:r>
          </a:p>
          <a:p>
            <a:pPr lvl="0"/>
            <a:r>
              <a:rPr lang="en-IN" dirty="0"/>
              <a:t>Manual moderation is slow, costly, and difficult to scale. </a:t>
            </a:r>
          </a:p>
          <a:p>
            <a:pPr lvl="0"/>
            <a:r>
              <a:rPr lang="en-IN" dirty="0"/>
              <a:t>A single chat message can belong to multiple toxicity categories. </a:t>
            </a:r>
          </a:p>
          <a:p>
            <a:pPr lvl="0"/>
            <a:r>
              <a:rPr lang="en-IN" dirty="0"/>
              <a:t>Delayed moderation negatively impacts player experience and community safety. </a:t>
            </a:r>
          </a:p>
          <a:p>
            <a:pPr lvl="0"/>
            <a:r>
              <a:rPr lang="en-IN" dirty="0"/>
              <a:t>Existing moderation systems may fail to detect disguised or obfuscated toxic words.</a:t>
            </a:r>
          </a:p>
          <a:p>
            <a:endParaRPr lang="en-IN" dirty="0"/>
          </a:p>
        </p:txBody>
      </p:sp>
    </p:spTree>
    <p:extLst>
      <p:ext uri="{BB962C8B-B14F-4D97-AF65-F5344CB8AC3E}">
        <p14:creationId xmlns:p14="http://schemas.microsoft.com/office/powerpoint/2010/main" val="213656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6F8FD-256C-C328-4DD5-5A7A2F6CA86F}"/>
              </a:ext>
            </a:extLst>
          </p:cNvPr>
          <p:cNvSpPr>
            <a:spLocks noGrp="1"/>
          </p:cNvSpPr>
          <p:nvPr>
            <p:ph type="title"/>
          </p:nvPr>
        </p:nvSpPr>
        <p:spPr>
          <a:xfrm>
            <a:off x="367748" y="76890"/>
            <a:ext cx="10986052" cy="770972"/>
          </a:xfrm>
        </p:spPr>
        <p:txBody>
          <a:bodyPr>
            <a:normAutofit/>
          </a:bodyPr>
          <a:lstStyle/>
          <a:p>
            <a:r>
              <a:rPr lang="en-IN" dirty="0"/>
              <a:t>Objectives</a:t>
            </a:r>
          </a:p>
        </p:txBody>
      </p:sp>
      <p:sp>
        <p:nvSpPr>
          <p:cNvPr id="3" name="Content Placeholder 2">
            <a:extLst>
              <a:ext uri="{FF2B5EF4-FFF2-40B4-BE49-F238E27FC236}">
                <a16:creationId xmlns:a16="http://schemas.microsoft.com/office/drawing/2014/main" id="{D7CFBE93-BEF2-9322-13A3-E7B3444F3E5E}"/>
              </a:ext>
            </a:extLst>
          </p:cNvPr>
          <p:cNvSpPr>
            <a:spLocks noGrp="1"/>
          </p:cNvSpPr>
          <p:nvPr>
            <p:ph idx="1"/>
          </p:nvPr>
        </p:nvSpPr>
        <p:spPr>
          <a:xfrm>
            <a:off x="0" y="725558"/>
            <a:ext cx="12192000" cy="6100486"/>
          </a:xfrm>
        </p:spPr>
        <p:txBody>
          <a:bodyPr>
            <a:normAutofit fontScale="55000" lnSpcReduction="20000"/>
          </a:bodyPr>
          <a:lstStyle/>
          <a:p>
            <a:r>
              <a:rPr lang="en-IN" sz="2500" dirty="0"/>
              <a:t>The primary objective of this project is to develop an intelligent and automated gaming chat moderation system that accurately identifies toxic messages and recommends appropriate moderation actions to ensure a safe and positive gaming environment.</a:t>
            </a:r>
          </a:p>
          <a:p>
            <a:r>
              <a:rPr lang="en-IN" sz="2500" b="1" dirty="0"/>
              <a:t>Specific Objectives</a:t>
            </a:r>
          </a:p>
          <a:p>
            <a:pPr lvl="0"/>
            <a:r>
              <a:rPr lang="en-IN" sz="2500" dirty="0"/>
              <a:t>Develop an </a:t>
            </a:r>
            <a:r>
              <a:rPr lang="en-IN" sz="2500" b="1" dirty="0"/>
              <a:t>Ensemble Machine Learning model</a:t>
            </a:r>
            <a:r>
              <a:rPr lang="en-IN" sz="2500" dirty="0"/>
              <a:t> for gaming chat toxicity detection. </a:t>
            </a:r>
          </a:p>
          <a:p>
            <a:pPr lvl="0"/>
            <a:r>
              <a:rPr lang="en-IN" sz="2500" dirty="0"/>
              <a:t>Perform </a:t>
            </a:r>
            <a:r>
              <a:rPr lang="en-IN" sz="2500" b="1" dirty="0"/>
              <a:t>multi-label classification</a:t>
            </a:r>
            <a:r>
              <a:rPr lang="en-IN" sz="2500" dirty="0"/>
              <a:t>, allowing a single message to belong to multiple toxicity categories. </a:t>
            </a:r>
          </a:p>
          <a:p>
            <a:pPr lvl="0"/>
            <a:r>
              <a:rPr lang="en-IN" sz="2500" dirty="0"/>
              <a:t>Detect the following six toxicity labels: </a:t>
            </a:r>
          </a:p>
          <a:p>
            <a:pPr lvl="1"/>
            <a:r>
              <a:rPr lang="en-IN" sz="2500" dirty="0"/>
              <a:t>Toxic </a:t>
            </a:r>
          </a:p>
          <a:p>
            <a:pPr lvl="1"/>
            <a:r>
              <a:rPr lang="en-IN" sz="2500" dirty="0"/>
              <a:t>Severe Toxic </a:t>
            </a:r>
          </a:p>
          <a:p>
            <a:pPr lvl="1"/>
            <a:r>
              <a:rPr lang="en-IN" sz="2500" dirty="0"/>
              <a:t>Obscene </a:t>
            </a:r>
          </a:p>
          <a:p>
            <a:pPr lvl="1"/>
            <a:r>
              <a:rPr lang="en-IN" sz="2500" dirty="0"/>
              <a:t>Threat </a:t>
            </a:r>
          </a:p>
          <a:p>
            <a:pPr lvl="1"/>
            <a:r>
              <a:rPr lang="en-IN" sz="2500" dirty="0"/>
              <a:t>Insult </a:t>
            </a:r>
          </a:p>
          <a:p>
            <a:pPr lvl="1"/>
            <a:r>
              <a:rPr lang="en-IN" sz="2500" dirty="0"/>
              <a:t>Identity Hate </a:t>
            </a:r>
          </a:p>
          <a:p>
            <a:pPr lvl="0"/>
            <a:r>
              <a:rPr lang="en-IN" sz="2500" dirty="0"/>
              <a:t>Preprocess gaming chat messages by removing noise, special characters, repeated letters, and obfuscated words. </a:t>
            </a:r>
          </a:p>
          <a:p>
            <a:pPr lvl="0"/>
            <a:r>
              <a:rPr lang="en-IN" sz="2500" dirty="0"/>
              <a:t>Convert textual chat messages into numerical features using the </a:t>
            </a:r>
            <a:r>
              <a:rPr lang="en-IN" sz="2500" b="1" dirty="0"/>
              <a:t>TF-IDF Vectorizer</a:t>
            </a:r>
            <a:r>
              <a:rPr lang="en-IN" sz="2500" dirty="0"/>
              <a:t>. </a:t>
            </a:r>
          </a:p>
          <a:p>
            <a:pPr lvl="0"/>
            <a:r>
              <a:rPr lang="en-IN" sz="2500" dirty="0"/>
              <a:t>Improve prediction accuracy by combining </a:t>
            </a:r>
            <a:r>
              <a:rPr lang="en-IN" sz="2500" b="1" dirty="0"/>
              <a:t>Logistic Regression</a:t>
            </a:r>
            <a:r>
              <a:rPr lang="en-IN" sz="2500" dirty="0"/>
              <a:t> and </a:t>
            </a:r>
            <a:r>
              <a:rPr lang="en-IN" sz="2500" b="1" dirty="0"/>
              <a:t>Random Forest</a:t>
            </a:r>
            <a:r>
              <a:rPr lang="en-IN" sz="2500" dirty="0"/>
              <a:t> using a </a:t>
            </a:r>
            <a:r>
              <a:rPr lang="en-IN" sz="2500" b="1" dirty="0"/>
              <a:t>Voting Classifier</a:t>
            </a:r>
            <a:r>
              <a:rPr lang="en-IN" sz="2500" dirty="0"/>
              <a:t>. </a:t>
            </a:r>
          </a:p>
          <a:p>
            <a:pPr lvl="0"/>
            <a:r>
              <a:rPr lang="en-IN" sz="2500" dirty="0"/>
              <a:t>Calculate a </a:t>
            </a:r>
            <a:r>
              <a:rPr lang="en-IN" sz="2500" b="1" dirty="0"/>
              <a:t>severity score (1–5)</a:t>
            </a:r>
            <a:r>
              <a:rPr lang="en-IN" sz="2500" dirty="0"/>
              <a:t> based on the detected toxicity labels. </a:t>
            </a:r>
          </a:p>
          <a:p>
            <a:pPr lvl="0"/>
            <a:r>
              <a:rPr lang="en-IN" sz="2500" dirty="0"/>
              <a:t>Recommend automated moderation actions such as: </a:t>
            </a:r>
          </a:p>
          <a:p>
            <a:pPr lvl="1"/>
            <a:r>
              <a:rPr lang="en-IN" sz="2500" b="1" dirty="0"/>
              <a:t>Allow</a:t>
            </a:r>
            <a:r>
              <a:rPr lang="en-IN" sz="2500" dirty="0"/>
              <a:t> </a:t>
            </a:r>
          </a:p>
          <a:p>
            <a:pPr lvl="1"/>
            <a:r>
              <a:rPr lang="en-IN" sz="2500" b="1" dirty="0"/>
              <a:t>Warning</a:t>
            </a:r>
            <a:r>
              <a:rPr lang="en-IN" sz="2500" dirty="0"/>
              <a:t> </a:t>
            </a:r>
          </a:p>
          <a:p>
            <a:pPr lvl="1"/>
            <a:r>
              <a:rPr lang="en-IN" sz="2500" b="1" dirty="0"/>
              <a:t>Mute</a:t>
            </a:r>
            <a:r>
              <a:rPr lang="en-IN" sz="2500" dirty="0"/>
              <a:t> </a:t>
            </a:r>
          </a:p>
          <a:p>
            <a:pPr lvl="1"/>
            <a:r>
              <a:rPr lang="en-IN" sz="2500" b="1" dirty="0"/>
              <a:t>Temporary Ban</a:t>
            </a:r>
            <a:r>
              <a:rPr lang="en-IN" sz="2500" dirty="0"/>
              <a:t> </a:t>
            </a:r>
          </a:p>
          <a:p>
            <a:pPr lvl="1"/>
            <a:r>
              <a:rPr lang="en-IN" sz="2500" b="1" dirty="0"/>
              <a:t>Auto Ban</a:t>
            </a:r>
            <a:r>
              <a:rPr lang="en-IN" sz="2500" dirty="0"/>
              <a:t> </a:t>
            </a:r>
          </a:p>
          <a:p>
            <a:pPr lvl="0"/>
            <a:r>
              <a:rPr lang="en-IN" sz="2500" dirty="0"/>
              <a:t>Generate </a:t>
            </a:r>
            <a:r>
              <a:rPr lang="en-IN" sz="2500" b="1" dirty="0"/>
              <a:t>detection logs</a:t>
            </a:r>
            <a:r>
              <a:rPr lang="en-IN" sz="2500" dirty="0"/>
              <a:t> for monitoring and analysis. </a:t>
            </a:r>
          </a:p>
          <a:p>
            <a:pPr lvl="0"/>
            <a:r>
              <a:rPr lang="en-IN" sz="2500" dirty="0"/>
              <a:t>Develop an interactive </a:t>
            </a:r>
            <a:r>
              <a:rPr lang="en-IN" sz="2500" b="1" dirty="0" err="1"/>
              <a:t>Gradio</a:t>
            </a:r>
            <a:r>
              <a:rPr lang="en-IN" sz="2500" b="1" dirty="0"/>
              <a:t> application</a:t>
            </a:r>
            <a:r>
              <a:rPr lang="en-IN" sz="2500" dirty="0"/>
              <a:t> for real-time toxicity prediction and moderation.</a:t>
            </a:r>
          </a:p>
          <a:p>
            <a:endParaRPr lang="en-IN" dirty="0"/>
          </a:p>
        </p:txBody>
      </p:sp>
    </p:spTree>
    <p:extLst>
      <p:ext uri="{BB962C8B-B14F-4D97-AF65-F5344CB8AC3E}">
        <p14:creationId xmlns:p14="http://schemas.microsoft.com/office/powerpoint/2010/main" val="2467556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2B63E-B4B7-4E2A-ACE9-759E36B57787}"/>
              </a:ext>
            </a:extLst>
          </p:cNvPr>
          <p:cNvSpPr>
            <a:spLocks noGrp="1"/>
          </p:cNvSpPr>
          <p:nvPr>
            <p:ph type="title"/>
          </p:nvPr>
        </p:nvSpPr>
        <p:spPr>
          <a:xfrm>
            <a:off x="838200" y="18256"/>
            <a:ext cx="10515600" cy="538336"/>
          </a:xfrm>
        </p:spPr>
        <p:txBody>
          <a:bodyPr>
            <a:normAutofit fontScale="90000"/>
          </a:bodyPr>
          <a:lstStyle/>
          <a:p>
            <a:r>
              <a:rPr lang="en-IN" dirty="0"/>
              <a:t>Dataset</a:t>
            </a:r>
          </a:p>
        </p:txBody>
      </p:sp>
      <p:sp>
        <p:nvSpPr>
          <p:cNvPr id="3" name="Content Placeholder 2">
            <a:extLst>
              <a:ext uri="{FF2B5EF4-FFF2-40B4-BE49-F238E27FC236}">
                <a16:creationId xmlns:a16="http://schemas.microsoft.com/office/drawing/2014/main" id="{FEF7F8E5-5F88-F254-6FC4-F6E1498157D4}"/>
              </a:ext>
            </a:extLst>
          </p:cNvPr>
          <p:cNvSpPr>
            <a:spLocks noGrp="1"/>
          </p:cNvSpPr>
          <p:nvPr>
            <p:ph idx="1"/>
          </p:nvPr>
        </p:nvSpPr>
        <p:spPr>
          <a:xfrm>
            <a:off x="0" y="556592"/>
            <a:ext cx="12192000" cy="6283152"/>
          </a:xfrm>
        </p:spPr>
        <p:txBody>
          <a:bodyPr>
            <a:normAutofit/>
          </a:bodyPr>
          <a:lstStyle/>
          <a:p>
            <a:r>
              <a:rPr lang="en-IN" sz="2400" dirty="0"/>
              <a:t>This project uses the </a:t>
            </a:r>
            <a:r>
              <a:rPr lang="en-IN" sz="2400" b="1" dirty="0"/>
              <a:t>Jigsaw Toxic Comment Classification Dataset</a:t>
            </a:r>
            <a:r>
              <a:rPr lang="en-IN" sz="2400" dirty="0"/>
              <a:t>, a widely used benchmark dataset for detecting toxic and abusive online text. The dataset contains user-generated comments that are manually annotated with multiple toxicity labels, making it suitable for developing multi-label text classification models.</a:t>
            </a:r>
          </a:p>
          <a:p>
            <a:r>
              <a:rPr lang="en-IN" sz="2400" dirty="0"/>
              <a:t>The dataset was </a:t>
            </a:r>
            <a:r>
              <a:rPr lang="en-IN" sz="2400" dirty="0" err="1"/>
              <a:t>preprocessed</a:t>
            </a:r>
            <a:r>
              <a:rPr lang="en-IN" sz="2400" dirty="0"/>
              <a:t> and balanced before training the model to improve classification performance and reduce the impact of class imbalance.</a:t>
            </a:r>
          </a:p>
          <a:p>
            <a:br>
              <a:rPr lang="en-IN" sz="2400" dirty="0"/>
            </a:br>
            <a:endParaRPr lang="en-IN" sz="2400" dirty="0"/>
          </a:p>
          <a:p>
            <a:r>
              <a:rPr lang="en-IN" sz="2400" b="1" dirty="0"/>
              <a:t>Dataset Information</a:t>
            </a:r>
          </a:p>
          <a:p>
            <a:pPr lvl="0"/>
            <a:r>
              <a:rPr lang="en-IN" sz="2400" b="1" dirty="0"/>
              <a:t>Dataset Name:</a:t>
            </a:r>
            <a:r>
              <a:rPr lang="en-IN" sz="2400" dirty="0"/>
              <a:t> Jigsaw Toxic Comment Classification Dataset </a:t>
            </a:r>
          </a:p>
          <a:p>
            <a:pPr lvl="0"/>
            <a:r>
              <a:rPr lang="en-IN" sz="2400" b="1" dirty="0"/>
              <a:t>Data Type:</a:t>
            </a:r>
            <a:r>
              <a:rPr lang="en-IN" sz="2400" dirty="0"/>
              <a:t> Text (User Comments) </a:t>
            </a:r>
          </a:p>
          <a:p>
            <a:pPr lvl="0"/>
            <a:r>
              <a:rPr lang="en-IN" sz="2400" b="1" dirty="0"/>
              <a:t>Classification Type:</a:t>
            </a:r>
            <a:r>
              <a:rPr lang="en-IN" sz="2400" dirty="0"/>
              <a:t> Multi-Label Classification </a:t>
            </a:r>
          </a:p>
          <a:p>
            <a:pPr lvl="0"/>
            <a:r>
              <a:rPr lang="en-IN" sz="2400" b="1" dirty="0"/>
              <a:t>Language:</a:t>
            </a:r>
            <a:r>
              <a:rPr lang="en-IN" sz="2400" dirty="0"/>
              <a:t> English </a:t>
            </a:r>
          </a:p>
          <a:p>
            <a:endParaRPr lang="en-IN" dirty="0"/>
          </a:p>
        </p:txBody>
      </p:sp>
    </p:spTree>
    <p:extLst>
      <p:ext uri="{BB962C8B-B14F-4D97-AF65-F5344CB8AC3E}">
        <p14:creationId xmlns:p14="http://schemas.microsoft.com/office/powerpoint/2010/main" val="1132651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12604C02-61F2-B7AA-2EE2-AF73BA7D8254}"/>
              </a:ext>
            </a:extLst>
          </p:cNvPr>
          <p:cNvGraphicFramePr>
            <a:graphicFrameLocks noGrp="1"/>
          </p:cNvGraphicFramePr>
          <p:nvPr>
            <p:ph idx="1"/>
            <p:extLst>
              <p:ext uri="{D42A27DB-BD31-4B8C-83A1-F6EECF244321}">
                <p14:modId xmlns:p14="http://schemas.microsoft.com/office/powerpoint/2010/main" val="3731673411"/>
              </p:ext>
            </p:extLst>
          </p:nvPr>
        </p:nvGraphicFramePr>
        <p:xfrm>
          <a:off x="159026" y="785336"/>
          <a:ext cx="12032974" cy="6072664"/>
        </p:xfrm>
        <a:graphic>
          <a:graphicData uri="http://schemas.openxmlformats.org/drawingml/2006/table">
            <a:tbl>
              <a:tblPr/>
              <a:tblGrid>
                <a:gridCol w="6016487">
                  <a:extLst>
                    <a:ext uri="{9D8B030D-6E8A-4147-A177-3AD203B41FA5}">
                      <a16:colId xmlns:a16="http://schemas.microsoft.com/office/drawing/2014/main" val="3403562740"/>
                    </a:ext>
                  </a:extLst>
                </a:gridCol>
                <a:gridCol w="6016487">
                  <a:extLst>
                    <a:ext uri="{9D8B030D-6E8A-4147-A177-3AD203B41FA5}">
                      <a16:colId xmlns:a16="http://schemas.microsoft.com/office/drawing/2014/main" val="3991381838"/>
                    </a:ext>
                  </a:extLst>
                </a:gridCol>
              </a:tblGrid>
              <a:tr h="899654">
                <a:tc>
                  <a:txBody>
                    <a:bodyPr/>
                    <a:lstStyle/>
                    <a:p>
                      <a:pPr>
                        <a:buNone/>
                      </a:pPr>
                      <a:r>
                        <a:rPr lang="en-IN" b="1" dirty="0"/>
                        <a:t>Toxic</a:t>
                      </a:r>
                      <a:endParaRPr lang="en-IN" dirty="0"/>
                    </a:p>
                  </a:txBody>
                  <a:tcPr anchor="ctr">
                    <a:lnL>
                      <a:noFill/>
                    </a:lnL>
                    <a:lnR>
                      <a:noFill/>
                    </a:lnR>
                    <a:lnT>
                      <a:noFill/>
                    </a:lnT>
                    <a:lnB>
                      <a:noFill/>
                    </a:lnB>
                    <a:noFill/>
                  </a:tcPr>
                </a:tc>
                <a:tc>
                  <a:txBody>
                    <a:bodyPr/>
                    <a:lstStyle/>
                    <a:p>
                      <a:pPr>
                        <a:buNone/>
                      </a:pPr>
                      <a:r>
                        <a:rPr lang="en-IN" dirty="0"/>
                        <a:t>General abusive or offensive language</a:t>
                      </a:r>
                    </a:p>
                  </a:txBody>
                  <a:tcPr anchor="ctr">
                    <a:lnL>
                      <a:noFill/>
                    </a:lnL>
                    <a:lnR>
                      <a:noFill/>
                    </a:lnR>
                    <a:lnT>
                      <a:noFill/>
                    </a:lnT>
                    <a:lnB>
                      <a:noFill/>
                    </a:lnB>
                    <a:noFill/>
                  </a:tcPr>
                </a:tc>
                <a:extLst>
                  <a:ext uri="{0D108BD9-81ED-4DB2-BD59-A6C34878D82A}">
                    <a16:rowId xmlns:a16="http://schemas.microsoft.com/office/drawing/2014/main" val="137745723"/>
                  </a:ext>
                </a:extLst>
              </a:tr>
              <a:tr h="899654">
                <a:tc>
                  <a:txBody>
                    <a:bodyPr/>
                    <a:lstStyle/>
                    <a:p>
                      <a:pPr>
                        <a:buNone/>
                      </a:pPr>
                      <a:r>
                        <a:rPr lang="en-IN" b="1" dirty="0"/>
                        <a:t>Severe Toxic</a:t>
                      </a:r>
                      <a:endParaRPr lang="en-IN" dirty="0"/>
                    </a:p>
                  </a:txBody>
                  <a:tcPr anchor="ctr">
                    <a:lnL>
                      <a:noFill/>
                    </a:lnL>
                    <a:lnR>
                      <a:noFill/>
                    </a:lnR>
                    <a:lnT>
                      <a:noFill/>
                    </a:lnT>
                    <a:lnB>
                      <a:noFill/>
                    </a:lnB>
                    <a:noFill/>
                  </a:tcPr>
                </a:tc>
                <a:tc>
                  <a:txBody>
                    <a:bodyPr/>
                    <a:lstStyle/>
                    <a:p>
                      <a:pPr>
                        <a:buNone/>
                      </a:pPr>
                      <a:r>
                        <a:rPr lang="en-IN" dirty="0"/>
                        <a:t>Extremely aggressive or highly offensive comments</a:t>
                      </a:r>
                    </a:p>
                  </a:txBody>
                  <a:tcPr anchor="ctr">
                    <a:lnL>
                      <a:noFill/>
                    </a:lnL>
                    <a:lnR>
                      <a:noFill/>
                    </a:lnR>
                    <a:lnT>
                      <a:noFill/>
                    </a:lnT>
                    <a:lnB>
                      <a:noFill/>
                    </a:lnB>
                    <a:noFill/>
                  </a:tcPr>
                </a:tc>
                <a:extLst>
                  <a:ext uri="{0D108BD9-81ED-4DB2-BD59-A6C34878D82A}">
                    <a16:rowId xmlns:a16="http://schemas.microsoft.com/office/drawing/2014/main" val="3075322164"/>
                  </a:ext>
                </a:extLst>
              </a:tr>
              <a:tr h="899654">
                <a:tc>
                  <a:txBody>
                    <a:bodyPr/>
                    <a:lstStyle/>
                    <a:p>
                      <a:pPr>
                        <a:buNone/>
                      </a:pPr>
                      <a:r>
                        <a:rPr lang="en-IN" b="1"/>
                        <a:t>Obscene</a:t>
                      </a:r>
                      <a:endParaRPr lang="en-IN"/>
                    </a:p>
                  </a:txBody>
                  <a:tcPr anchor="ctr">
                    <a:lnL>
                      <a:noFill/>
                    </a:lnL>
                    <a:lnR>
                      <a:noFill/>
                    </a:lnR>
                    <a:lnT>
                      <a:noFill/>
                    </a:lnT>
                    <a:lnB>
                      <a:noFill/>
                    </a:lnB>
                    <a:noFill/>
                  </a:tcPr>
                </a:tc>
                <a:tc>
                  <a:txBody>
                    <a:bodyPr/>
                    <a:lstStyle/>
                    <a:p>
                      <a:pPr>
                        <a:buNone/>
                      </a:pPr>
                      <a:r>
                        <a:rPr lang="en-IN"/>
                        <a:t>Comments containing vulgar or profane language</a:t>
                      </a:r>
                    </a:p>
                  </a:txBody>
                  <a:tcPr anchor="ctr">
                    <a:lnL>
                      <a:noFill/>
                    </a:lnL>
                    <a:lnR>
                      <a:noFill/>
                    </a:lnR>
                    <a:lnT>
                      <a:noFill/>
                    </a:lnT>
                    <a:lnB>
                      <a:noFill/>
                    </a:lnB>
                    <a:noFill/>
                  </a:tcPr>
                </a:tc>
                <a:extLst>
                  <a:ext uri="{0D108BD9-81ED-4DB2-BD59-A6C34878D82A}">
                    <a16:rowId xmlns:a16="http://schemas.microsoft.com/office/drawing/2014/main" val="364388632"/>
                  </a:ext>
                </a:extLst>
              </a:tr>
              <a:tr h="899654">
                <a:tc>
                  <a:txBody>
                    <a:bodyPr/>
                    <a:lstStyle/>
                    <a:p>
                      <a:pPr>
                        <a:buNone/>
                      </a:pPr>
                      <a:r>
                        <a:rPr lang="en-IN" b="1"/>
                        <a:t>Threat</a:t>
                      </a:r>
                      <a:endParaRPr lang="en-IN"/>
                    </a:p>
                  </a:txBody>
                  <a:tcPr anchor="ctr">
                    <a:lnL>
                      <a:noFill/>
                    </a:lnL>
                    <a:lnR>
                      <a:noFill/>
                    </a:lnR>
                    <a:lnT>
                      <a:noFill/>
                    </a:lnT>
                    <a:lnB>
                      <a:noFill/>
                    </a:lnB>
                    <a:noFill/>
                  </a:tcPr>
                </a:tc>
                <a:tc>
                  <a:txBody>
                    <a:bodyPr/>
                    <a:lstStyle/>
                    <a:p>
                      <a:pPr>
                        <a:buNone/>
                      </a:pPr>
                      <a:r>
                        <a:rPr lang="en-IN"/>
                        <a:t>Messages expressing violence or threats</a:t>
                      </a:r>
                    </a:p>
                  </a:txBody>
                  <a:tcPr anchor="ctr">
                    <a:lnL>
                      <a:noFill/>
                    </a:lnL>
                    <a:lnR>
                      <a:noFill/>
                    </a:lnR>
                    <a:lnT>
                      <a:noFill/>
                    </a:lnT>
                    <a:lnB>
                      <a:noFill/>
                    </a:lnB>
                    <a:noFill/>
                  </a:tcPr>
                </a:tc>
                <a:extLst>
                  <a:ext uri="{0D108BD9-81ED-4DB2-BD59-A6C34878D82A}">
                    <a16:rowId xmlns:a16="http://schemas.microsoft.com/office/drawing/2014/main" val="2284791068"/>
                  </a:ext>
                </a:extLst>
              </a:tr>
              <a:tr h="899654">
                <a:tc>
                  <a:txBody>
                    <a:bodyPr/>
                    <a:lstStyle/>
                    <a:p>
                      <a:pPr>
                        <a:buNone/>
                      </a:pPr>
                      <a:r>
                        <a:rPr lang="en-IN" b="1" dirty="0"/>
                        <a:t>Insult</a:t>
                      </a:r>
                      <a:endParaRPr lang="en-IN" dirty="0"/>
                    </a:p>
                  </a:txBody>
                  <a:tcPr anchor="ctr">
                    <a:lnL>
                      <a:noFill/>
                    </a:lnL>
                    <a:lnR>
                      <a:noFill/>
                    </a:lnR>
                    <a:lnT>
                      <a:noFill/>
                    </a:lnT>
                    <a:lnB>
                      <a:noFill/>
                    </a:lnB>
                    <a:noFill/>
                  </a:tcPr>
                </a:tc>
                <a:tc>
                  <a:txBody>
                    <a:bodyPr/>
                    <a:lstStyle/>
                    <a:p>
                      <a:pPr>
                        <a:buNone/>
                      </a:pPr>
                      <a:r>
                        <a:rPr lang="en-IN"/>
                        <a:t>Personal attacks or insulting language</a:t>
                      </a:r>
                    </a:p>
                  </a:txBody>
                  <a:tcPr anchor="ctr">
                    <a:lnL>
                      <a:noFill/>
                    </a:lnL>
                    <a:lnR>
                      <a:noFill/>
                    </a:lnR>
                    <a:lnT>
                      <a:noFill/>
                    </a:lnT>
                    <a:lnB>
                      <a:noFill/>
                    </a:lnB>
                    <a:noFill/>
                  </a:tcPr>
                </a:tc>
                <a:extLst>
                  <a:ext uri="{0D108BD9-81ED-4DB2-BD59-A6C34878D82A}">
                    <a16:rowId xmlns:a16="http://schemas.microsoft.com/office/drawing/2014/main" val="1697370505"/>
                  </a:ext>
                </a:extLst>
              </a:tr>
              <a:tr h="1574394">
                <a:tc>
                  <a:txBody>
                    <a:bodyPr/>
                    <a:lstStyle/>
                    <a:p>
                      <a:pPr>
                        <a:buNone/>
                      </a:pPr>
                      <a:r>
                        <a:rPr lang="en-IN" b="1"/>
                        <a:t>Identity Hate</a:t>
                      </a:r>
                      <a:endParaRPr lang="en-IN"/>
                    </a:p>
                  </a:txBody>
                  <a:tcPr anchor="ctr">
                    <a:lnL>
                      <a:noFill/>
                    </a:lnL>
                    <a:lnR>
                      <a:noFill/>
                    </a:lnR>
                    <a:lnT>
                      <a:noFill/>
                    </a:lnT>
                    <a:lnB>
                      <a:noFill/>
                    </a:lnB>
                    <a:noFill/>
                  </a:tcPr>
                </a:tc>
                <a:tc>
                  <a:txBody>
                    <a:bodyPr/>
                    <a:lstStyle/>
                    <a:p>
                      <a:pPr>
                        <a:buNone/>
                      </a:pPr>
                      <a:r>
                        <a:rPr lang="en-IN" dirty="0"/>
                        <a:t>Hate speech targeting race, religion, gender, nationality, or other identities</a:t>
                      </a:r>
                    </a:p>
                  </a:txBody>
                  <a:tcPr anchor="ctr">
                    <a:lnL>
                      <a:noFill/>
                    </a:lnL>
                    <a:lnR>
                      <a:noFill/>
                    </a:lnR>
                    <a:lnT>
                      <a:noFill/>
                    </a:lnT>
                    <a:lnB>
                      <a:noFill/>
                    </a:lnB>
                    <a:noFill/>
                  </a:tcPr>
                </a:tc>
                <a:extLst>
                  <a:ext uri="{0D108BD9-81ED-4DB2-BD59-A6C34878D82A}">
                    <a16:rowId xmlns:a16="http://schemas.microsoft.com/office/drawing/2014/main" val="3454259052"/>
                  </a:ext>
                </a:extLst>
              </a:tr>
            </a:tbl>
          </a:graphicData>
        </a:graphic>
      </p:graphicFrame>
      <p:sp>
        <p:nvSpPr>
          <p:cNvPr id="12" name="TextBox 11">
            <a:extLst>
              <a:ext uri="{FF2B5EF4-FFF2-40B4-BE49-F238E27FC236}">
                <a16:creationId xmlns:a16="http://schemas.microsoft.com/office/drawing/2014/main" id="{0858315E-36F6-C130-BCA7-74BB43887FF6}"/>
              </a:ext>
            </a:extLst>
          </p:cNvPr>
          <p:cNvSpPr txBox="1"/>
          <p:nvPr/>
        </p:nvSpPr>
        <p:spPr>
          <a:xfrm>
            <a:off x="79514" y="139005"/>
            <a:ext cx="12112486" cy="646331"/>
          </a:xfrm>
          <a:prstGeom prst="rect">
            <a:avLst/>
          </a:prstGeom>
          <a:noFill/>
        </p:spPr>
        <p:txBody>
          <a:bodyPr wrap="square">
            <a:spAutoFit/>
          </a:bodyPr>
          <a:lstStyle/>
          <a:p>
            <a:pPr>
              <a:buNone/>
            </a:pPr>
            <a:r>
              <a:rPr lang="en-IN" b="1" dirty="0"/>
              <a:t>Toxicity Categories</a:t>
            </a:r>
          </a:p>
          <a:p>
            <a:pPr>
              <a:buNone/>
            </a:pPr>
            <a:r>
              <a:rPr lang="en-IN" dirty="0"/>
              <a:t>The model predicts the following six toxicity labels:</a:t>
            </a:r>
          </a:p>
        </p:txBody>
      </p:sp>
    </p:spTree>
    <p:extLst>
      <p:ext uri="{BB962C8B-B14F-4D97-AF65-F5344CB8AC3E}">
        <p14:creationId xmlns:p14="http://schemas.microsoft.com/office/powerpoint/2010/main" val="1328899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09188F4-56D0-2BB7-0EEF-756F36C6F077}"/>
              </a:ext>
            </a:extLst>
          </p:cNvPr>
          <p:cNvSpPr>
            <a:spLocks noGrp="1"/>
          </p:cNvSpPr>
          <p:nvPr>
            <p:ph idx="1"/>
          </p:nvPr>
        </p:nvSpPr>
        <p:spPr>
          <a:xfrm>
            <a:off x="4900" y="13390"/>
            <a:ext cx="12187099" cy="6844610"/>
          </a:xfrm>
        </p:spPr>
        <p:txBody>
          <a:bodyPr>
            <a:normAutofit lnSpcReduction="10000"/>
          </a:bodyPr>
          <a:lstStyle/>
          <a:p>
            <a:endParaRPr lang="en-IN" sz="1800" dirty="0"/>
          </a:p>
          <a:p>
            <a:pPr marL="0" indent="0" algn="ctr">
              <a:buNone/>
            </a:pPr>
            <a:r>
              <a:rPr lang="en-IN" sz="2400" b="1" dirty="0"/>
              <a:t>Dataset Workflow</a:t>
            </a:r>
          </a:p>
          <a:p>
            <a:pPr marL="0" indent="0" algn="ctr">
              <a:buNone/>
            </a:pPr>
            <a:endParaRPr lang="en-IN" sz="1800" dirty="0"/>
          </a:p>
          <a:p>
            <a:pPr marL="0" indent="0" algn="ctr">
              <a:buNone/>
            </a:pPr>
            <a:r>
              <a:rPr lang="en-IN" sz="1800" dirty="0"/>
              <a:t>Jigsaw Toxic Comment Dataset</a:t>
            </a:r>
          </a:p>
          <a:p>
            <a:pPr marL="0" indent="0" algn="ctr">
              <a:buNone/>
            </a:pPr>
            <a:r>
              <a:rPr lang="en-IN" sz="1800" dirty="0"/>
              <a:t>            │</a:t>
            </a:r>
          </a:p>
          <a:p>
            <a:pPr marL="0" indent="0" algn="ctr">
              <a:buNone/>
            </a:pPr>
            <a:r>
              <a:rPr lang="en-IN" sz="1800" dirty="0"/>
              <a:t>            ▼</a:t>
            </a:r>
          </a:p>
          <a:p>
            <a:pPr marL="0" indent="0" algn="ctr">
              <a:buNone/>
            </a:pPr>
            <a:r>
              <a:rPr lang="en-IN" sz="1800" dirty="0"/>
              <a:t>     Raw Text Comments</a:t>
            </a:r>
          </a:p>
          <a:p>
            <a:pPr marL="0" indent="0" algn="ctr">
              <a:buNone/>
            </a:pPr>
            <a:r>
              <a:rPr lang="en-IN" sz="1800" dirty="0"/>
              <a:t>            │</a:t>
            </a:r>
          </a:p>
          <a:p>
            <a:pPr marL="0" indent="0" algn="ctr">
              <a:buNone/>
            </a:pPr>
            <a:r>
              <a:rPr lang="en-IN" sz="1800" dirty="0"/>
              <a:t>            ▼</a:t>
            </a:r>
          </a:p>
          <a:p>
            <a:pPr marL="0" indent="0" algn="ctr">
              <a:buNone/>
            </a:pPr>
            <a:r>
              <a:rPr lang="en-IN" sz="1800" dirty="0"/>
              <a:t>    Text Preprocessing</a:t>
            </a:r>
          </a:p>
          <a:p>
            <a:pPr marL="0" indent="0" algn="ctr">
              <a:buNone/>
            </a:pPr>
            <a:r>
              <a:rPr lang="en-IN" sz="1800" dirty="0"/>
              <a:t>            │</a:t>
            </a:r>
          </a:p>
          <a:p>
            <a:pPr marL="0" indent="0" algn="ctr">
              <a:buNone/>
            </a:pPr>
            <a:r>
              <a:rPr lang="en-IN" sz="1800" dirty="0"/>
              <a:t>            ▼</a:t>
            </a:r>
          </a:p>
          <a:p>
            <a:pPr marL="0" indent="0" algn="ctr">
              <a:buNone/>
            </a:pPr>
            <a:r>
              <a:rPr lang="en-IN" sz="1800" dirty="0"/>
              <a:t>     Dataset Balancing</a:t>
            </a:r>
          </a:p>
          <a:p>
            <a:pPr marL="0" indent="0" algn="ctr">
              <a:buNone/>
            </a:pPr>
            <a:r>
              <a:rPr lang="en-IN" sz="1800" dirty="0"/>
              <a:t>            │</a:t>
            </a:r>
          </a:p>
          <a:p>
            <a:pPr marL="0" indent="0" algn="ctr">
              <a:buNone/>
            </a:pPr>
            <a:r>
              <a:rPr lang="en-IN" sz="1800" dirty="0"/>
              <a:t>            ▼</a:t>
            </a:r>
          </a:p>
          <a:p>
            <a:pPr marL="0" indent="0" algn="ctr">
              <a:buNone/>
            </a:pPr>
            <a:r>
              <a:rPr lang="en-IN" sz="1800" dirty="0"/>
              <a:t>   Train-Test Split (80:20)</a:t>
            </a:r>
          </a:p>
          <a:p>
            <a:pPr marL="0" indent="0" algn="ctr">
              <a:buNone/>
            </a:pPr>
            <a:r>
              <a:rPr lang="en-IN" sz="1800" dirty="0"/>
              <a:t>            │</a:t>
            </a:r>
          </a:p>
          <a:p>
            <a:pPr marL="0" indent="0" algn="ctr">
              <a:buNone/>
            </a:pPr>
            <a:r>
              <a:rPr lang="en-IN" sz="1800" dirty="0"/>
              <a:t>            ▼</a:t>
            </a:r>
          </a:p>
          <a:p>
            <a:pPr marL="0" indent="0" algn="ctr">
              <a:buNone/>
            </a:pPr>
            <a:r>
              <a:rPr lang="en-IN" sz="1800" dirty="0"/>
              <a:t>      Model Training</a:t>
            </a:r>
          </a:p>
        </p:txBody>
      </p:sp>
    </p:spTree>
    <p:extLst>
      <p:ext uri="{BB962C8B-B14F-4D97-AF65-F5344CB8AC3E}">
        <p14:creationId xmlns:p14="http://schemas.microsoft.com/office/powerpoint/2010/main" val="586653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D69BC-3D06-8C3D-0B36-A493B37FB135}"/>
              </a:ext>
            </a:extLst>
          </p:cNvPr>
          <p:cNvSpPr>
            <a:spLocks noGrp="1"/>
          </p:cNvSpPr>
          <p:nvPr>
            <p:ph type="title"/>
          </p:nvPr>
        </p:nvSpPr>
        <p:spPr>
          <a:xfrm>
            <a:off x="3366198" y="231112"/>
            <a:ext cx="6069204" cy="1245996"/>
          </a:xfrm>
        </p:spPr>
        <p:txBody>
          <a:bodyPr>
            <a:normAutofit/>
          </a:bodyPr>
          <a:lstStyle/>
          <a:p>
            <a:pPr algn="ctr"/>
            <a:r>
              <a:rPr lang="en-IN" dirty="0"/>
              <a:t>System Architecture</a:t>
            </a:r>
          </a:p>
        </p:txBody>
      </p:sp>
      <p:sp>
        <p:nvSpPr>
          <p:cNvPr id="7" name="Text Placeholder 2">
            <a:extLst>
              <a:ext uri="{FF2B5EF4-FFF2-40B4-BE49-F238E27FC236}">
                <a16:creationId xmlns:a16="http://schemas.microsoft.com/office/drawing/2014/main" id="{C96608E0-4F0F-C58A-ECAA-E97D8D929258}"/>
              </a:ext>
            </a:extLst>
          </p:cNvPr>
          <p:cNvSpPr>
            <a:spLocks noGrp="1"/>
          </p:cNvSpPr>
          <p:nvPr>
            <p:ph sz="half" idx="2"/>
          </p:nvPr>
        </p:nvSpPr>
        <p:spPr>
          <a:xfrm>
            <a:off x="106363" y="1688124"/>
            <a:ext cx="12085637" cy="3923880"/>
          </a:xfrm>
        </p:spPr>
        <p:txBody>
          <a:bodyPr>
            <a:noAutofit/>
          </a:bodyPr>
          <a:lstStyle/>
          <a:p>
            <a:r>
              <a:rPr lang="en-IN" sz="2400" dirty="0"/>
              <a:t>The proposed Gaming Chat Toxicity Classification System follows a structured pipeline that transforms raw gaming chat messages into moderation decisions. The system begins with collecting chat messages, performs text preprocessing to clean and normalize the data, extracts meaningful textual features using the TF-IDF Vectorizer, and then classifies the messages using an Ensemble Machine Learning model. Finally, the system assigns a severity score and recommends an appropriate moderation action.</a:t>
            </a:r>
          </a:p>
        </p:txBody>
      </p:sp>
    </p:spTree>
    <p:extLst>
      <p:ext uri="{BB962C8B-B14F-4D97-AF65-F5344CB8AC3E}">
        <p14:creationId xmlns:p14="http://schemas.microsoft.com/office/powerpoint/2010/main" val="125679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064B3AE-14CB-07DA-4B92-647612F1AFA8}"/>
              </a:ext>
            </a:extLst>
          </p:cNvPr>
          <p:cNvSpPr>
            <a:spLocks noGrp="1"/>
          </p:cNvSpPr>
          <p:nvPr>
            <p:ph idx="1"/>
          </p:nvPr>
        </p:nvSpPr>
        <p:spPr>
          <a:xfrm>
            <a:off x="0" y="36582"/>
            <a:ext cx="10515600" cy="6821418"/>
          </a:xfrm>
        </p:spPr>
        <p:txBody>
          <a:bodyPr>
            <a:normAutofit/>
          </a:bodyPr>
          <a:lstStyle/>
          <a:p>
            <a:pPr algn="ctr"/>
            <a:r>
              <a:rPr lang="en-IN" sz="3600" b="1" dirty="0"/>
              <a:t>Architecture Components</a:t>
            </a:r>
          </a:p>
          <a:p>
            <a:pPr marL="0" indent="0" algn="ctr">
              <a:buNone/>
            </a:pPr>
            <a:endParaRPr lang="en-IN" b="1" dirty="0"/>
          </a:p>
          <a:p>
            <a:pPr>
              <a:buFont typeface="Wingdings" panose="05000000000000000000" pitchFamily="2" charset="2"/>
              <a:buChar char="ü"/>
            </a:pPr>
            <a:r>
              <a:rPr lang="en-IN" b="1" dirty="0"/>
              <a:t>1. Gaming Chat Input</a:t>
            </a:r>
          </a:p>
          <a:p>
            <a:pPr lvl="0"/>
            <a:r>
              <a:rPr lang="en-IN" sz="2000" dirty="0"/>
              <a:t>Receives chat messages from players in real time. </a:t>
            </a:r>
          </a:p>
          <a:p>
            <a:pPr lvl="0"/>
            <a:endParaRPr lang="en-IN" sz="2000" dirty="0"/>
          </a:p>
          <a:p>
            <a:pPr>
              <a:buFont typeface="Wingdings" panose="05000000000000000000" pitchFamily="2" charset="2"/>
              <a:buChar char="ü"/>
            </a:pPr>
            <a:r>
              <a:rPr lang="en-IN" b="1" dirty="0"/>
              <a:t>2. Text Preprocessing</a:t>
            </a:r>
          </a:p>
          <a:p>
            <a:pPr lvl="0"/>
            <a:r>
              <a:rPr lang="en-IN" sz="2000" dirty="0"/>
              <a:t>Converts text to lowercase. </a:t>
            </a:r>
          </a:p>
          <a:p>
            <a:pPr lvl="0"/>
            <a:r>
              <a:rPr lang="en-IN" sz="2000" dirty="0"/>
              <a:t>Removes obfuscated words. </a:t>
            </a:r>
          </a:p>
          <a:p>
            <a:pPr lvl="0"/>
            <a:r>
              <a:rPr lang="en-IN" sz="2000" dirty="0"/>
              <a:t>Eliminates repeated characters. </a:t>
            </a:r>
          </a:p>
          <a:p>
            <a:pPr lvl="0"/>
            <a:r>
              <a:rPr lang="en-IN" sz="2000" dirty="0"/>
              <a:t>Removes special characters. </a:t>
            </a:r>
          </a:p>
          <a:p>
            <a:pPr lvl="0"/>
            <a:r>
              <a:rPr lang="en-IN" sz="2000" dirty="0"/>
              <a:t>Produces clean and normalized text. </a:t>
            </a:r>
          </a:p>
          <a:p>
            <a:pPr lvl="0"/>
            <a:endParaRPr lang="en-IN" sz="2000" dirty="0"/>
          </a:p>
          <a:p>
            <a:pPr>
              <a:buFont typeface="Wingdings" panose="05000000000000000000" pitchFamily="2" charset="2"/>
              <a:buChar char="ü"/>
            </a:pPr>
            <a:r>
              <a:rPr lang="en-IN" b="1" dirty="0"/>
              <a:t>3. TF-IDF Feature Extraction</a:t>
            </a:r>
          </a:p>
          <a:p>
            <a:pPr lvl="0"/>
            <a:r>
              <a:rPr lang="en-IN" sz="2000" dirty="0"/>
              <a:t>Converts cleaned text into numerical feature vectors. </a:t>
            </a:r>
          </a:p>
          <a:p>
            <a:pPr lvl="0"/>
            <a:r>
              <a:rPr lang="en-IN" sz="2000" dirty="0"/>
              <a:t>Preserves important words and phrases using unigram and bigram features.</a:t>
            </a:r>
          </a:p>
          <a:p>
            <a:endParaRPr lang="en-IN" dirty="0"/>
          </a:p>
        </p:txBody>
      </p:sp>
    </p:spTree>
    <p:extLst>
      <p:ext uri="{BB962C8B-B14F-4D97-AF65-F5344CB8AC3E}">
        <p14:creationId xmlns:p14="http://schemas.microsoft.com/office/powerpoint/2010/main" val="931410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15A4855-0278-F281-9603-47120F534453}"/>
              </a:ext>
            </a:extLst>
          </p:cNvPr>
          <p:cNvSpPr>
            <a:spLocks noGrp="1"/>
          </p:cNvSpPr>
          <p:nvPr>
            <p:ph idx="1"/>
          </p:nvPr>
        </p:nvSpPr>
        <p:spPr>
          <a:xfrm>
            <a:off x="0" y="36513"/>
            <a:ext cx="12192000" cy="6821487"/>
          </a:xfrm>
        </p:spPr>
        <p:txBody>
          <a:bodyPr>
            <a:normAutofit fontScale="92500" lnSpcReduction="20000"/>
          </a:bodyPr>
          <a:lstStyle/>
          <a:p>
            <a:pPr>
              <a:buFont typeface="Wingdings" panose="05000000000000000000" pitchFamily="2" charset="2"/>
              <a:buChar char="ü"/>
            </a:pPr>
            <a:r>
              <a:rPr lang="en-IN" sz="2600" b="1" dirty="0"/>
              <a:t>4. Ensemble Machine Learning Model</a:t>
            </a:r>
          </a:p>
          <a:p>
            <a:endParaRPr lang="en-IN" sz="2200" b="1" dirty="0"/>
          </a:p>
          <a:p>
            <a:pPr lvl="0"/>
            <a:r>
              <a:rPr lang="en-IN" sz="2200" b="1" dirty="0"/>
              <a:t>Logistic Regression</a:t>
            </a:r>
            <a:r>
              <a:rPr lang="en-IN" sz="2200" dirty="0"/>
              <a:t> captures linear text patterns. </a:t>
            </a:r>
          </a:p>
          <a:p>
            <a:pPr lvl="0"/>
            <a:r>
              <a:rPr lang="en-IN" sz="2200" b="1" dirty="0"/>
              <a:t>Random Forest</a:t>
            </a:r>
            <a:r>
              <a:rPr lang="en-IN" sz="2200" dirty="0"/>
              <a:t> learns complex decision boundaries. </a:t>
            </a:r>
          </a:p>
          <a:p>
            <a:pPr lvl="0"/>
            <a:r>
              <a:rPr lang="en-IN" sz="2200" b="1" dirty="0"/>
              <a:t>Voting Classifier</a:t>
            </a:r>
            <a:r>
              <a:rPr lang="en-IN" sz="2200" dirty="0"/>
              <a:t> combines predictions using soft voting for improved accuracy. </a:t>
            </a:r>
          </a:p>
          <a:p>
            <a:pPr lvl="0"/>
            <a:endParaRPr lang="en-IN" sz="2200" dirty="0"/>
          </a:p>
          <a:p>
            <a:pPr>
              <a:buFont typeface="Wingdings" panose="05000000000000000000" pitchFamily="2" charset="2"/>
              <a:buChar char="ü"/>
            </a:pPr>
            <a:r>
              <a:rPr lang="en-IN" sz="2600" b="1" dirty="0"/>
              <a:t>5. Multioutput Classifier</a:t>
            </a:r>
          </a:p>
          <a:p>
            <a:pPr lvl="0"/>
            <a:r>
              <a:rPr lang="en-IN" sz="2200" dirty="0"/>
              <a:t>Enables simultaneous prediction of multiple toxicity labels for a single message. </a:t>
            </a:r>
          </a:p>
          <a:p>
            <a:pPr lvl="0"/>
            <a:endParaRPr lang="en-IN" sz="2200" dirty="0"/>
          </a:p>
          <a:p>
            <a:pPr>
              <a:buFont typeface="Wingdings" panose="05000000000000000000" pitchFamily="2" charset="2"/>
              <a:buChar char="ü"/>
            </a:pPr>
            <a:r>
              <a:rPr lang="en-IN" sz="2600" b="1" dirty="0"/>
              <a:t>6. Severity Score Calculation</a:t>
            </a:r>
          </a:p>
          <a:p>
            <a:pPr lvl="0"/>
            <a:r>
              <a:rPr lang="en-IN" sz="2200" dirty="0"/>
              <a:t>Computes a severity score from </a:t>
            </a:r>
            <a:r>
              <a:rPr lang="en-IN" sz="2200" b="1" dirty="0"/>
              <a:t>1 to 5</a:t>
            </a:r>
            <a:r>
              <a:rPr lang="en-IN" sz="2200" dirty="0"/>
              <a:t> based on the predicted toxicity labels. </a:t>
            </a:r>
          </a:p>
          <a:p>
            <a:pPr lvl="0"/>
            <a:endParaRPr lang="en-IN" sz="2200" dirty="0"/>
          </a:p>
          <a:p>
            <a:pPr>
              <a:buFont typeface="Wingdings" panose="05000000000000000000" pitchFamily="2" charset="2"/>
              <a:buChar char="ü"/>
            </a:pPr>
            <a:r>
              <a:rPr lang="en-IN" sz="2600" b="1" dirty="0"/>
              <a:t>7. Moderation Recommendation</a:t>
            </a:r>
          </a:p>
          <a:p>
            <a:r>
              <a:rPr lang="en-IN" sz="2200" dirty="0"/>
              <a:t>Based on the severity score, the system recommends:</a:t>
            </a:r>
          </a:p>
          <a:p>
            <a:pPr lvl="0"/>
            <a:r>
              <a:rPr lang="en-IN" sz="2200" b="1" dirty="0"/>
              <a:t>Allow</a:t>
            </a:r>
            <a:r>
              <a:rPr lang="en-IN" sz="2200" dirty="0"/>
              <a:t> </a:t>
            </a:r>
          </a:p>
          <a:p>
            <a:pPr lvl="0"/>
            <a:r>
              <a:rPr lang="en-IN" sz="2200" b="1" dirty="0"/>
              <a:t>Warning</a:t>
            </a:r>
            <a:r>
              <a:rPr lang="en-IN" sz="2200" dirty="0"/>
              <a:t> </a:t>
            </a:r>
          </a:p>
          <a:p>
            <a:pPr lvl="0"/>
            <a:r>
              <a:rPr lang="en-IN" sz="2200" b="1" dirty="0"/>
              <a:t>Mute</a:t>
            </a:r>
            <a:r>
              <a:rPr lang="en-IN" sz="2200" dirty="0"/>
              <a:t> </a:t>
            </a:r>
          </a:p>
          <a:p>
            <a:pPr lvl="0"/>
            <a:r>
              <a:rPr lang="en-IN" sz="2200" b="1" dirty="0"/>
              <a:t>Temporary Ban</a:t>
            </a:r>
            <a:r>
              <a:rPr lang="en-IN" sz="2200" dirty="0"/>
              <a:t> </a:t>
            </a:r>
          </a:p>
          <a:p>
            <a:pPr lvl="0"/>
            <a:r>
              <a:rPr lang="en-IN" sz="2200" b="1" dirty="0"/>
              <a:t>Auto Ban</a:t>
            </a:r>
            <a:endParaRPr lang="en-IN" sz="2200" dirty="0"/>
          </a:p>
          <a:p>
            <a:endParaRPr lang="en-IN" dirty="0"/>
          </a:p>
        </p:txBody>
      </p:sp>
    </p:spTree>
    <p:extLst>
      <p:ext uri="{BB962C8B-B14F-4D97-AF65-F5344CB8AC3E}">
        <p14:creationId xmlns:p14="http://schemas.microsoft.com/office/powerpoint/2010/main" val="815086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427AE2-9797-B920-3A68-72956F267A2C}"/>
              </a:ext>
            </a:extLst>
          </p:cNvPr>
          <p:cNvSpPr>
            <a:spLocks noGrp="1"/>
          </p:cNvSpPr>
          <p:nvPr>
            <p:ph idx="1"/>
          </p:nvPr>
        </p:nvSpPr>
        <p:spPr>
          <a:xfrm>
            <a:off x="0" y="0"/>
            <a:ext cx="12192000" cy="6858000"/>
          </a:xfrm>
        </p:spPr>
        <p:txBody>
          <a:bodyPr>
            <a:normAutofit lnSpcReduction="10000"/>
          </a:bodyPr>
          <a:lstStyle/>
          <a:p>
            <a:pPr>
              <a:buFont typeface="Wingdings" panose="05000000000000000000" pitchFamily="2" charset="2"/>
              <a:buChar char="ü"/>
            </a:pPr>
            <a:r>
              <a:rPr lang="en-IN" sz="3000" b="1" dirty="0"/>
              <a:t>8. Detection Log Generation</a:t>
            </a:r>
          </a:p>
          <a:p>
            <a:endParaRPr lang="en-IN" b="1" dirty="0"/>
          </a:p>
          <a:p>
            <a:pPr lvl="0"/>
            <a:r>
              <a:rPr lang="en-IN" sz="2600" dirty="0"/>
              <a:t>Records the original message, predicted labels, severity score, confidence, and recommended action for auditing and analysis. </a:t>
            </a:r>
          </a:p>
          <a:p>
            <a:pPr>
              <a:buFont typeface="Wingdings" panose="05000000000000000000" pitchFamily="2" charset="2"/>
              <a:buChar char="ü"/>
            </a:pPr>
            <a:r>
              <a:rPr lang="en-IN" sz="3000" b="1" dirty="0"/>
              <a:t>9. </a:t>
            </a:r>
            <a:r>
              <a:rPr lang="en-IN" sz="3000" b="1" dirty="0" err="1"/>
              <a:t>Gradio</a:t>
            </a:r>
            <a:r>
              <a:rPr lang="en-IN" sz="3000" b="1" dirty="0"/>
              <a:t> User Interface</a:t>
            </a:r>
          </a:p>
          <a:p>
            <a:pPr marL="0" indent="0">
              <a:buNone/>
            </a:pPr>
            <a:endParaRPr lang="en-IN" b="1" dirty="0"/>
          </a:p>
          <a:p>
            <a:pPr lvl="0"/>
            <a:r>
              <a:rPr lang="en-IN" sz="2600" dirty="0"/>
              <a:t>Displays the prediction results, severity score, and moderation action in an interactive web interface. </a:t>
            </a:r>
          </a:p>
          <a:p>
            <a:pPr marL="0" indent="0">
              <a:buNone/>
            </a:pPr>
            <a:endParaRPr lang="en-IN" dirty="0"/>
          </a:p>
          <a:p>
            <a:pPr>
              <a:buFont typeface="Wingdings" panose="05000000000000000000" pitchFamily="2" charset="2"/>
              <a:buChar char="ü"/>
            </a:pPr>
            <a:r>
              <a:rPr lang="en-IN" sz="3000" b="1" dirty="0"/>
              <a:t>Key Advantages of the Architecture</a:t>
            </a:r>
          </a:p>
          <a:p>
            <a:pPr lvl="0"/>
            <a:r>
              <a:rPr lang="en-IN" sz="2600" dirty="0"/>
              <a:t>Modular and scalable design. </a:t>
            </a:r>
          </a:p>
          <a:p>
            <a:pPr lvl="0"/>
            <a:r>
              <a:rPr lang="en-IN" sz="2600" dirty="0"/>
              <a:t>Supports </a:t>
            </a:r>
            <a:r>
              <a:rPr lang="en-IN" sz="2600" b="1" dirty="0"/>
              <a:t>multi-label toxicity detection</a:t>
            </a:r>
            <a:r>
              <a:rPr lang="en-IN" sz="2600" dirty="0"/>
              <a:t>. </a:t>
            </a:r>
          </a:p>
          <a:p>
            <a:pPr lvl="0"/>
            <a:r>
              <a:rPr lang="en-IN" sz="2600" dirty="0"/>
              <a:t>Uses an </a:t>
            </a:r>
            <a:r>
              <a:rPr lang="en-IN" sz="2600" b="1" dirty="0"/>
              <a:t>Ensemble Machine Learning</a:t>
            </a:r>
            <a:r>
              <a:rPr lang="en-IN" sz="2600" dirty="0"/>
              <a:t> approach for improved prediction accuracy. </a:t>
            </a:r>
          </a:p>
          <a:p>
            <a:pPr lvl="0"/>
            <a:r>
              <a:rPr lang="en-IN" sz="2600" dirty="0"/>
              <a:t>Provides </a:t>
            </a:r>
            <a:r>
              <a:rPr lang="en-IN" sz="2600" b="1" dirty="0"/>
              <a:t>real-time moderation recommendations</a:t>
            </a:r>
            <a:r>
              <a:rPr lang="en-IN" sz="2600" dirty="0"/>
              <a:t>. </a:t>
            </a:r>
          </a:p>
          <a:p>
            <a:pPr lvl="0"/>
            <a:r>
              <a:rPr lang="en-IN" sz="2600" dirty="0"/>
              <a:t>Easily deployable as a web application using </a:t>
            </a:r>
            <a:r>
              <a:rPr lang="en-IN" sz="2600" b="1" dirty="0" err="1"/>
              <a:t>Gradio</a:t>
            </a:r>
            <a:r>
              <a:rPr lang="en-IN" sz="2600" dirty="0"/>
              <a:t>.</a:t>
            </a:r>
          </a:p>
          <a:p>
            <a:endParaRPr lang="en-IN" dirty="0"/>
          </a:p>
        </p:txBody>
      </p:sp>
    </p:spTree>
    <p:extLst>
      <p:ext uri="{BB962C8B-B14F-4D97-AF65-F5344CB8AC3E}">
        <p14:creationId xmlns:p14="http://schemas.microsoft.com/office/powerpoint/2010/main" val="124220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2CE89-1D51-62E1-6431-06E1199F5C8F}"/>
              </a:ext>
            </a:extLst>
          </p:cNvPr>
          <p:cNvSpPr>
            <a:spLocks noGrp="1"/>
          </p:cNvSpPr>
          <p:nvPr>
            <p:ph type="title"/>
          </p:nvPr>
        </p:nvSpPr>
        <p:spPr>
          <a:xfrm>
            <a:off x="659296" y="18255"/>
            <a:ext cx="10515600" cy="786815"/>
          </a:xfrm>
        </p:spPr>
        <p:txBody>
          <a:bodyPr/>
          <a:lstStyle/>
          <a:p>
            <a:pPr algn="ctr"/>
            <a:r>
              <a:rPr lang="en-IN" dirty="0"/>
              <a:t>Text Preprocessing</a:t>
            </a:r>
          </a:p>
        </p:txBody>
      </p:sp>
      <p:sp>
        <p:nvSpPr>
          <p:cNvPr id="3" name="Content Placeholder 2">
            <a:extLst>
              <a:ext uri="{FF2B5EF4-FFF2-40B4-BE49-F238E27FC236}">
                <a16:creationId xmlns:a16="http://schemas.microsoft.com/office/drawing/2014/main" id="{BB35FEE1-4876-4FAB-026F-55166758319A}"/>
              </a:ext>
            </a:extLst>
          </p:cNvPr>
          <p:cNvSpPr>
            <a:spLocks noGrp="1"/>
          </p:cNvSpPr>
          <p:nvPr>
            <p:ph idx="1"/>
          </p:nvPr>
        </p:nvSpPr>
        <p:spPr>
          <a:xfrm>
            <a:off x="0" y="1129886"/>
            <a:ext cx="11353800" cy="3949010"/>
          </a:xfrm>
        </p:spPr>
        <p:txBody>
          <a:bodyPr/>
          <a:lstStyle/>
          <a:p>
            <a:r>
              <a:rPr lang="en-IN" sz="2400" dirty="0"/>
              <a:t>Text preprocessing is one of the most important stages in the Gaming Chat Toxicity Classification System. Gaming chat messages often contain spelling variations, repeated characters, special symbols, abbreviations, and intentionally obfuscated words that can reduce the accuracy of machine learning models. Therefore, preprocessing is performed to clean and normalize the text before feature extraction.</a:t>
            </a:r>
          </a:p>
          <a:p>
            <a:r>
              <a:rPr lang="en-IN" sz="2400" dirty="0"/>
              <a:t>The project uses a custom </a:t>
            </a:r>
            <a:r>
              <a:rPr lang="en-IN" sz="2400" b="1" dirty="0"/>
              <a:t>Text Processor</a:t>
            </a:r>
            <a:r>
              <a:rPr lang="en-IN" sz="2400" dirty="0"/>
              <a:t> class to transform raw chat messages into a standardized format suitable for TF-IDF feature extraction and classification.</a:t>
            </a:r>
          </a:p>
          <a:p>
            <a:endParaRPr lang="en-IN" dirty="0"/>
          </a:p>
        </p:txBody>
      </p:sp>
    </p:spTree>
    <p:extLst>
      <p:ext uri="{BB962C8B-B14F-4D97-AF65-F5344CB8AC3E}">
        <p14:creationId xmlns:p14="http://schemas.microsoft.com/office/powerpoint/2010/main" val="2149068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EF9D4-4A99-5E26-8729-7C696695A0B4}"/>
              </a:ext>
            </a:extLst>
          </p:cNvPr>
          <p:cNvSpPr>
            <a:spLocks noGrp="1"/>
          </p:cNvSpPr>
          <p:nvPr>
            <p:ph type="title"/>
          </p:nvPr>
        </p:nvSpPr>
        <p:spPr>
          <a:xfrm>
            <a:off x="838200" y="0"/>
            <a:ext cx="10515600" cy="681038"/>
          </a:xfrm>
        </p:spPr>
        <p:txBody>
          <a:bodyPr>
            <a:normAutofit fontScale="90000"/>
          </a:bodyPr>
          <a:lstStyle/>
          <a:p>
            <a:pPr algn="ctr"/>
            <a:r>
              <a:rPr lang="en-IN" dirty="0"/>
              <a:t>Preprocessing Workflow</a:t>
            </a:r>
          </a:p>
        </p:txBody>
      </p:sp>
      <p:sp>
        <p:nvSpPr>
          <p:cNvPr id="3" name="Content Placeholder 2">
            <a:extLst>
              <a:ext uri="{FF2B5EF4-FFF2-40B4-BE49-F238E27FC236}">
                <a16:creationId xmlns:a16="http://schemas.microsoft.com/office/drawing/2014/main" id="{B0F2D15F-AD66-30DB-0CE4-0792EA595895}"/>
              </a:ext>
            </a:extLst>
          </p:cNvPr>
          <p:cNvSpPr>
            <a:spLocks noGrp="1"/>
          </p:cNvSpPr>
          <p:nvPr>
            <p:ph idx="1"/>
          </p:nvPr>
        </p:nvSpPr>
        <p:spPr>
          <a:xfrm>
            <a:off x="3303104" y="556591"/>
            <a:ext cx="5585791" cy="6301409"/>
          </a:xfrm>
        </p:spPr>
        <p:txBody>
          <a:bodyPr>
            <a:normAutofit fontScale="55000" lnSpcReduction="20000"/>
          </a:bodyPr>
          <a:lstStyle/>
          <a:p>
            <a:pPr marL="0" indent="0" algn="ctr">
              <a:buNone/>
            </a:pPr>
            <a:r>
              <a:rPr lang="en-IN" b="1" dirty="0"/>
              <a:t>       Raw Gaming Chat</a:t>
            </a:r>
          </a:p>
          <a:p>
            <a:pPr marL="0" indent="0" algn="ctr">
              <a:buNone/>
            </a:pPr>
            <a:r>
              <a:rPr lang="en-IN" b="1" dirty="0"/>
              <a:t>        │</a:t>
            </a:r>
          </a:p>
          <a:p>
            <a:pPr marL="0" indent="0" algn="ctr">
              <a:buNone/>
            </a:pPr>
            <a:r>
              <a:rPr lang="en-IN" b="1" dirty="0"/>
              <a:t>        ▼</a:t>
            </a:r>
          </a:p>
          <a:p>
            <a:pPr marL="0" indent="0" algn="ctr">
              <a:buNone/>
            </a:pPr>
            <a:r>
              <a:rPr lang="en-IN" b="1" dirty="0"/>
              <a:t>Convert to Lowercase</a:t>
            </a:r>
          </a:p>
          <a:p>
            <a:pPr marL="0" indent="0" algn="ctr">
              <a:buNone/>
            </a:pPr>
            <a:r>
              <a:rPr lang="en-IN" b="1" dirty="0"/>
              <a:t>        │</a:t>
            </a:r>
          </a:p>
          <a:p>
            <a:pPr marL="0" indent="0" algn="ctr">
              <a:buNone/>
            </a:pPr>
            <a:r>
              <a:rPr lang="en-IN" b="1" dirty="0"/>
              <a:t>        ▼</a:t>
            </a:r>
          </a:p>
          <a:p>
            <a:pPr marL="0" indent="0" algn="ctr">
              <a:buNone/>
            </a:pPr>
            <a:r>
              <a:rPr lang="en-IN" b="1" dirty="0"/>
              <a:t>Remove Obfuscated Words</a:t>
            </a:r>
          </a:p>
          <a:p>
            <a:pPr marL="0" indent="0" algn="ctr">
              <a:buNone/>
            </a:pPr>
            <a:r>
              <a:rPr lang="en-IN" b="1" dirty="0"/>
              <a:t>        │</a:t>
            </a:r>
          </a:p>
          <a:p>
            <a:pPr marL="0" indent="0" algn="ctr">
              <a:buNone/>
            </a:pPr>
            <a:r>
              <a:rPr lang="en-IN" b="1" dirty="0"/>
              <a:t>        ▼</a:t>
            </a:r>
          </a:p>
          <a:p>
            <a:pPr marL="0" indent="0" algn="ctr">
              <a:buNone/>
            </a:pPr>
            <a:r>
              <a:rPr lang="en-IN" b="1" dirty="0"/>
              <a:t>Remove Repeated Characters</a:t>
            </a:r>
          </a:p>
          <a:p>
            <a:pPr marL="0" indent="0" algn="ctr">
              <a:buNone/>
            </a:pPr>
            <a:r>
              <a:rPr lang="en-IN" b="1" dirty="0"/>
              <a:t>        │</a:t>
            </a:r>
          </a:p>
          <a:p>
            <a:pPr marL="0" indent="0" algn="ctr">
              <a:buNone/>
            </a:pPr>
            <a:r>
              <a:rPr lang="en-IN" b="1" dirty="0"/>
              <a:t>        ▼</a:t>
            </a:r>
          </a:p>
          <a:p>
            <a:pPr marL="0" indent="0" algn="ctr">
              <a:buNone/>
            </a:pPr>
            <a:r>
              <a:rPr lang="en-IN" b="1" dirty="0"/>
              <a:t>Remove Spaced Letters</a:t>
            </a:r>
          </a:p>
          <a:p>
            <a:pPr marL="0" indent="0" algn="ctr">
              <a:buNone/>
            </a:pPr>
            <a:r>
              <a:rPr lang="en-IN" b="1" dirty="0"/>
              <a:t>        │</a:t>
            </a:r>
          </a:p>
          <a:p>
            <a:pPr marL="0" indent="0" algn="ctr">
              <a:buNone/>
            </a:pPr>
            <a:r>
              <a:rPr lang="en-IN" b="1" dirty="0"/>
              <a:t>        ▼</a:t>
            </a:r>
          </a:p>
          <a:p>
            <a:pPr marL="0" indent="0" algn="ctr">
              <a:buNone/>
            </a:pPr>
            <a:r>
              <a:rPr lang="en-IN" b="1" dirty="0"/>
              <a:t>Remove Special Characters</a:t>
            </a:r>
          </a:p>
          <a:p>
            <a:pPr marL="0" indent="0" algn="ctr">
              <a:buNone/>
            </a:pPr>
            <a:r>
              <a:rPr lang="en-IN" b="1" dirty="0"/>
              <a:t>        │</a:t>
            </a:r>
          </a:p>
          <a:p>
            <a:pPr marL="0" indent="0" algn="ctr">
              <a:buNone/>
            </a:pPr>
            <a:r>
              <a:rPr lang="en-IN" b="1" dirty="0"/>
              <a:t>        ▼</a:t>
            </a:r>
          </a:p>
          <a:p>
            <a:pPr marL="0" indent="0" algn="ctr">
              <a:buNone/>
            </a:pPr>
            <a:r>
              <a:rPr lang="en-IN" b="1" dirty="0"/>
              <a:t>Normalize White Spaces</a:t>
            </a:r>
          </a:p>
          <a:p>
            <a:pPr marL="0" indent="0" algn="ctr">
              <a:buNone/>
            </a:pPr>
            <a:r>
              <a:rPr lang="en-IN" b="1" dirty="0"/>
              <a:t>        │</a:t>
            </a:r>
          </a:p>
          <a:p>
            <a:pPr marL="0" indent="0" algn="ctr">
              <a:buNone/>
            </a:pPr>
            <a:r>
              <a:rPr lang="en-IN" b="1" dirty="0"/>
              <a:t>        ▼</a:t>
            </a:r>
          </a:p>
          <a:p>
            <a:pPr marL="0" indent="0" algn="ctr">
              <a:buNone/>
            </a:pPr>
            <a:r>
              <a:rPr lang="en-IN" b="1" dirty="0"/>
              <a:t>Clean Text</a:t>
            </a:r>
          </a:p>
        </p:txBody>
      </p:sp>
    </p:spTree>
    <p:extLst>
      <p:ext uri="{BB962C8B-B14F-4D97-AF65-F5344CB8AC3E}">
        <p14:creationId xmlns:p14="http://schemas.microsoft.com/office/powerpoint/2010/main" val="891268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DC4D-998C-D3B1-25B0-EB34D84917E9}"/>
              </a:ext>
            </a:extLst>
          </p:cNvPr>
          <p:cNvSpPr>
            <a:spLocks noGrp="1"/>
          </p:cNvSpPr>
          <p:nvPr>
            <p:ph type="title"/>
          </p:nvPr>
        </p:nvSpPr>
        <p:spPr>
          <a:xfrm>
            <a:off x="836611" y="162478"/>
            <a:ext cx="9688927" cy="824947"/>
          </a:xfrm>
        </p:spPr>
        <p:txBody>
          <a:bodyPr>
            <a:normAutofit/>
          </a:bodyPr>
          <a:lstStyle/>
          <a:p>
            <a:pPr algn="ctr"/>
            <a:r>
              <a:rPr lang="en-IN" dirty="0"/>
              <a:t>TF-IDF (Term Frequency–Inverse Document Frequency)</a:t>
            </a:r>
          </a:p>
        </p:txBody>
      </p:sp>
      <p:sp>
        <p:nvSpPr>
          <p:cNvPr id="3" name="Content Placeholder 2">
            <a:extLst>
              <a:ext uri="{FF2B5EF4-FFF2-40B4-BE49-F238E27FC236}">
                <a16:creationId xmlns:a16="http://schemas.microsoft.com/office/drawing/2014/main" id="{50387C1A-B3B3-A68F-17C7-2A56F3D87BEB}"/>
              </a:ext>
            </a:extLst>
          </p:cNvPr>
          <p:cNvSpPr>
            <a:spLocks noGrp="1"/>
          </p:cNvSpPr>
          <p:nvPr>
            <p:ph idx="1"/>
          </p:nvPr>
        </p:nvSpPr>
        <p:spPr>
          <a:xfrm>
            <a:off x="5178287" y="987425"/>
            <a:ext cx="6370983" cy="5870575"/>
          </a:xfrm>
        </p:spPr>
        <p:txBody>
          <a:bodyPr>
            <a:normAutofit fontScale="40000" lnSpcReduction="20000"/>
          </a:bodyPr>
          <a:lstStyle/>
          <a:p>
            <a:pPr marL="0" indent="0" algn="ctr">
              <a:buNone/>
            </a:pPr>
            <a:r>
              <a:rPr lang="en-IN" b="1" dirty="0"/>
              <a:t>Raw Chat Message</a:t>
            </a:r>
          </a:p>
          <a:p>
            <a:pPr marL="0" indent="0" algn="ctr">
              <a:buNone/>
            </a:pPr>
            <a:r>
              <a:rPr lang="en-IN" b="1" dirty="0"/>
              <a:t>        │</a:t>
            </a:r>
          </a:p>
          <a:p>
            <a:pPr marL="0" indent="0" algn="ctr">
              <a:buNone/>
            </a:pPr>
            <a:r>
              <a:rPr lang="en-IN" b="1" dirty="0"/>
              <a:t>        ▼</a:t>
            </a:r>
          </a:p>
          <a:p>
            <a:pPr marL="0" indent="0" algn="ctr">
              <a:buNone/>
            </a:pPr>
            <a:r>
              <a:rPr lang="en-IN" b="1" dirty="0" err="1"/>
              <a:t>Preprocessed</a:t>
            </a:r>
            <a:r>
              <a:rPr lang="en-IN" b="1" dirty="0"/>
              <a:t> Text</a:t>
            </a:r>
          </a:p>
          <a:p>
            <a:pPr marL="0" indent="0" algn="ctr">
              <a:buNone/>
            </a:pPr>
            <a:r>
              <a:rPr lang="en-IN" b="1" dirty="0"/>
              <a:t>        │</a:t>
            </a:r>
          </a:p>
          <a:p>
            <a:pPr marL="0" indent="0" algn="ctr">
              <a:buNone/>
            </a:pPr>
            <a:r>
              <a:rPr lang="en-IN" b="1" dirty="0"/>
              <a:t>        ▼</a:t>
            </a:r>
          </a:p>
          <a:p>
            <a:pPr marL="0" indent="0" algn="ctr">
              <a:buNone/>
            </a:pPr>
            <a:r>
              <a:rPr lang="en-IN" b="1" dirty="0"/>
              <a:t>Tokenization</a:t>
            </a:r>
          </a:p>
          <a:p>
            <a:pPr marL="0" indent="0" algn="ctr">
              <a:buNone/>
            </a:pPr>
            <a:r>
              <a:rPr lang="en-IN" b="1" dirty="0"/>
              <a:t>        │</a:t>
            </a:r>
          </a:p>
          <a:p>
            <a:pPr marL="0" indent="0" algn="ctr">
              <a:buNone/>
            </a:pPr>
            <a:r>
              <a:rPr lang="en-IN" b="1" dirty="0"/>
              <a:t>        ▼</a:t>
            </a:r>
          </a:p>
          <a:p>
            <a:pPr marL="0" indent="0" algn="ctr">
              <a:buNone/>
            </a:pPr>
            <a:r>
              <a:rPr lang="en-IN" b="1" dirty="0"/>
              <a:t>Vocabulary Creation</a:t>
            </a:r>
          </a:p>
          <a:p>
            <a:pPr marL="0" indent="0" algn="ctr">
              <a:buNone/>
            </a:pPr>
            <a:r>
              <a:rPr lang="en-IN" b="1" dirty="0"/>
              <a:t>        │</a:t>
            </a:r>
          </a:p>
          <a:p>
            <a:pPr marL="0" indent="0" algn="ctr">
              <a:buNone/>
            </a:pPr>
            <a:r>
              <a:rPr lang="en-IN" b="1" dirty="0"/>
              <a:t>        ▼</a:t>
            </a:r>
          </a:p>
          <a:p>
            <a:pPr marL="0" indent="0" algn="ctr">
              <a:buNone/>
            </a:pPr>
            <a:r>
              <a:rPr lang="en-IN" b="1" dirty="0"/>
              <a:t>TF Calculation</a:t>
            </a:r>
          </a:p>
          <a:p>
            <a:pPr marL="0" indent="0" algn="ctr">
              <a:buNone/>
            </a:pPr>
            <a:r>
              <a:rPr lang="en-IN" b="1" dirty="0"/>
              <a:t>        │</a:t>
            </a:r>
          </a:p>
          <a:p>
            <a:pPr marL="0" indent="0" algn="ctr">
              <a:buNone/>
            </a:pPr>
            <a:r>
              <a:rPr lang="en-IN" b="1" dirty="0"/>
              <a:t>        ▼</a:t>
            </a:r>
          </a:p>
          <a:p>
            <a:pPr marL="0" indent="0" algn="ctr">
              <a:buNone/>
            </a:pPr>
            <a:r>
              <a:rPr lang="en-IN" b="1" dirty="0"/>
              <a:t>IDF Calculation</a:t>
            </a:r>
          </a:p>
          <a:p>
            <a:pPr marL="0" indent="0" algn="ctr">
              <a:buNone/>
            </a:pPr>
            <a:r>
              <a:rPr lang="en-IN" b="1" dirty="0"/>
              <a:t>        │</a:t>
            </a:r>
          </a:p>
          <a:p>
            <a:pPr marL="0" indent="0" algn="ctr">
              <a:buNone/>
            </a:pPr>
            <a:r>
              <a:rPr lang="en-IN" b="1" dirty="0"/>
              <a:t>        ▼</a:t>
            </a:r>
          </a:p>
          <a:p>
            <a:pPr marL="0" indent="0" algn="ctr">
              <a:buNone/>
            </a:pPr>
            <a:r>
              <a:rPr lang="en-IN" b="1" dirty="0"/>
              <a:t>TF-IDF Feature Vector</a:t>
            </a:r>
          </a:p>
          <a:p>
            <a:pPr marL="0" indent="0" algn="ctr">
              <a:buNone/>
            </a:pPr>
            <a:r>
              <a:rPr lang="en-IN" b="1" dirty="0"/>
              <a:t>        │</a:t>
            </a:r>
          </a:p>
          <a:p>
            <a:pPr marL="0" indent="0" algn="ctr">
              <a:buNone/>
            </a:pPr>
            <a:r>
              <a:rPr lang="en-IN" b="1" dirty="0"/>
              <a:t>        ▼</a:t>
            </a:r>
          </a:p>
          <a:p>
            <a:pPr marL="0" indent="0" algn="ctr">
              <a:buNone/>
            </a:pPr>
            <a:r>
              <a:rPr lang="en-IN" b="1" dirty="0"/>
              <a:t>Machine Learning Model</a:t>
            </a:r>
          </a:p>
        </p:txBody>
      </p:sp>
      <p:sp>
        <p:nvSpPr>
          <p:cNvPr id="4" name="Text Placeholder 3">
            <a:extLst>
              <a:ext uri="{FF2B5EF4-FFF2-40B4-BE49-F238E27FC236}">
                <a16:creationId xmlns:a16="http://schemas.microsoft.com/office/drawing/2014/main" id="{0FD652F7-CF1E-1B7F-292C-BB2DF43948A3}"/>
              </a:ext>
            </a:extLst>
          </p:cNvPr>
          <p:cNvSpPr>
            <a:spLocks noGrp="1"/>
          </p:cNvSpPr>
          <p:nvPr>
            <p:ph type="body" sz="half" idx="2"/>
          </p:nvPr>
        </p:nvSpPr>
        <p:spPr>
          <a:xfrm>
            <a:off x="0" y="987425"/>
            <a:ext cx="4772025" cy="5870575"/>
          </a:xfrm>
        </p:spPr>
        <p:txBody>
          <a:bodyPr/>
          <a:lstStyle/>
          <a:p>
            <a:r>
              <a:rPr lang="en-IN" sz="2000" b="1" dirty="0"/>
              <a:t>TF-IDF Feature Extraction</a:t>
            </a:r>
          </a:p>
          <a:p>
            <a:r>
              <a:rPr lang="en-IN" sz="2000" dirty="0"/>
              <a:t>After preprocessing, the cleaned gaming chat messages cannot be directly used by machine learning algorithms because they work with numerical data rather than text. Therefore, the cleaned text is converted into numerical feature vectors using the </a:t>
            </a:r>
            <a:r>
              <a:rPr lang="en-IN" sz="2000" b="1" dirty="0"/>
              <a:t>TF-IDF (Term Frequency–Inverse Document Frequency) Vectorizer</a:t>
            </a:r>
            <a:r>
              <a:rPr lang="en-IN" sz="2000" dirty="0"/>
              <a:t>.</a:t>
            </a:r>
          </a:p>
          <a:p>
            <a:r>
              <a:rPr lang="en-IN" sz="2000" dirty="0"/>
              <a:t>TF-IDF measures the importance of a word in a document relative to the entire dataset. Words that appear frequently in a particular comment but less frequently across all comments receive higher weights, making them more useful for toxicity classification.</a:t>
            </a:r>
          </a:p>
          <a:p>
            <a:endParaRPr lang="en-IN" dirty="0"/>
          </a:p>
        </p:txBody>
      </p:sp>
    </p:spTree>
    <p:extLst>
      <p:ext uri="{BB962C8B-B14F-4D97-AF65-F5344CB8AC3E}">
        <p14:creationId xmlns:p14="http://schemas.microsoft.com/office/powerpoint/2010/main" val="1277814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3063-A04F-FACA-29D8-E55E43A7EFAA}"/>
              </a:ext>
            </a:extLst>
          </p:cNvPr>
          <p:cNvSpPr>
            <a:spLocks noGrp="1"/>
          </p:cNvSpPr>
          <p:nvPr>
            <p:ph type="title"/>
          </p:nvPr>
        </p:nvSpPr>
        <p:spPr>
          <a:xfrm>
            <a:off x="839787" y="0"/>
            <a:ext cx="9675813" cy="626165"/>
          </a:xfrm>
        </p:spPr>
        <p:txBody>
          <a:bodyPr/>
          <a:lstStyle/>
          <a:p>
            <a:pPr algn="ctr"/>
            <a:r>
              <a:rPr lang="en-IN" b="1" dirty="0"/>
              <a:t>Ensemble Model</a:t>
            </a:r>
          </a:p>
        </p:txBody>
      </p:sp>
      <p:sp>
        <p:nvSpPr>
          <p:cNvPr id="3" name="Content Placeholder 2">
            <a:extLst>
              <a:ext uri="{FF2B5EF4-FFF2-40B4-BE49-F238E27FC236}">
                <a16:creationId xmlns:a16="http://schemas.microsoft.com/office/drawing/2014/main" id="{23E28A3B-2528-3CEA-3DDF-886714A58CF8}"/>
              </a:ext>
            </a:extLst>
          </p:cNvPr>
          <p:cNvSpPr>
            <a:spLocks noGrp="1"/>
          </p:cNvSpPr>
          <p:nvPr>
            <p:ph idx="1"/>
          </p:nvPr>
        </p:nvSpPr>
        <p:spPr>
          <a:xfrm>
            <a:off x="6096000" y="987425"/>
            <a:ext cx="6095999" cy="5870575"/>
          </a:xfrm>
        </p:spPr>
        <p:txBody>
          <a:bodyPr>
            <a:normAutofit fontScale="40000" lnSpcReduction="20000"/>
          </a:bodyPr>
          <a:lstStyle/>
          <a:p>
            <a:pPr marL="0" indent="0">
              <a:buNone/>
            </a:pPr>
            <a:r>
              <a:rPr lang="en-IN" dirty="0"/>
              <a:t> </a:t>
            </a:r>
            <a:r>
              <a:rPr lang="en-IN" b="1" dirty="0"/>
              <a:t>TF-IDF Feature Vector</a:t>
            </a:r>
          </a:p>
          <a:p>
            <a:pPr marL="0" indent="0">
              <a:buNone/>
            </a:pPr>
            <a:r>
              <a:rPr lang="en-IN" b="1" dirty="0"/>
              <a:t>                           │</a:t>
            </a:r>
          </a:p>
          <a:p>
            <a:pPr marL="0" indent="0">
              <a:buNone/>
            </a:pPr>
            <a:r>
              <a:rPr lang="en-IN" b="1" dirty="0"/>
              <a:t>                          ▼</a:t>
            </a:r>
          </a:p>
          <a:p>
            <a:pPr marL="0" indent="0">
              <a:buNone/>
            </a:pPr>
            <a:r>
              <a:rPr lang="en-IN" b="1" dirty="0"/>
              <a:t>        ┌─────────────────────────────────┐</a:t>
            </a:r>
          </a:p>
          <a:p>
            <a:pPr marL="0" indent="0">
              <a:buNone/>
            </a:pPr>
            <a:r>
              <a:rPr lang="en-IN" b="1" dirty="0"/>
              <a:t>        │      Voting Classifier          │</a:t>
            </a:r>
          </a:p>
          <a:p>
            <a:pPr marL="0" indent="0">
              <a:buNone/>
            </a:pPr>
            <a:r>
              <a:rPr lang="en-IN" b="1" dirty="0"/>
              <a:t>        └─────────────────────────────────┘</a:t>
            </a:r>
          </a:p>
          <a:p>
            <a:pPr marL="0" indent="0">
              <a:buNone/>
            </a:pPr>
            <a:r>
              <a:rPr lang="en-IN" b="1" dirty="0"/>
              <a:t>                  │                   │</a:t>
            </a:r>
          </a:p>
          <a:p>
            <a:pPr marL="0" indent="0">
              <a:buNone/>
            </a:pPr>
            <a:r>
              <a:rPr lang="en-IN" b="1" dirty="0"/>
              <a:t>                 ▼                 ▼</a:t>
            </a:r>
          </a:p>
          <a:p>
            <a:pPr marL="0" indent="0">
              <a:buNone/>
            </a:pPr>
            <a:r>
              <a:rPr lang="en-IN" b="1" dirty="0"/>
              <a:t>     Logistic Regression    Random Forest</a:t>
            </a:r>
          </a:p>
          <a:p>
            <a:pPr marL="0" indent="0">
              <a:buNone/>
            </a:pPr>
            <a:r>
              <a:rPr lang="en-IN" b="1" dirty="0"/>
              <a:t>          Classifier           </a:t>
            </a:r>
            <a:r>
              <a:rPr lang="en-IN" b="1" dirty="0" err="1"/>
              <a:t>Classifier</a:t>
            </a:r>
            <a:endParaRPr lang="en-IN" b="1" dirty="0"/>
          </a:p>
          <a:p>
            <a:pPr marL="0" indent="0">
              <a:buNone/>
            </a:pPr>
            <a:r>
              <a:rPr lang="en-IN" b="1" dirty="0"/>
              <a:t>                 │                 │</a:t>
            </a:r>
          </a:p>
          <a:p>
            <a:pPr marL="0" indent="0">
              <a:buNone/>
            </a:pPr>
            <a:r>
              <a:rPr lang="en-IN" b="1" dirty="0"/>
              <a:t>    └────────┬────────┘</a:t>
            </a:r>
          </a:p>
          <a:p>
            <a:pPr marL="0" indent="0">
              <a:buNone/>
            </a:pPr>
            <a:r>
              <a:rPr lang="en-IN" b="1" dirty="0"/>
              <a:t>                          ▼</a:t>
            </a:r>
          </a:p>
          <a:p>
            <a:pPr marL="0" indent="0">
              <a:buNone/>
            </a:pPr>
            <a:r>
              <a:rPr lang="en-IN" b="1" dirty="0"/>
              <a:t>                 Soft Voting Result</a:t>
            </a:r>
          </a:p>
          <a:p>
            <a:pPr marL="0" indent="0">
              <a:buNone/>
            </a:pPr>
            <a:r>
              <a:rPr lang="en-IN" b="1" dirty="0"/>
              <a:t>                           │</a:t>
            </a:r>
          </a:p>
          <a:p>
            <a:pPr marL="0" indent="0">
              <a:buNone/>
            </a:pPr>
            <a:r>
              <a:rPr lang="en-IN" b="1" dirty="0"/>
              <a:t>                          ▼</a:t>
            </a:r>
          </a:p>
          <a:p>
            <a:pPr marL="0" indent="0">
              <a:buNone/>
            </a:pPr>
            <a:r>
              <a:rPr lang="en-IN" b="1" dirty="0"/>
              <a:t>              Multioutput Classifier</a:t>
            </a:r>
          </a:p>
          <a:p>
            <a:pPr marL="0" indent="0">
              <a:buNone/>
            </a:pPr>
            <a:r>
              <a:rPr lang="en-IN" b="1" dirty="0"/>
              <a:t>                           │</a:t>
            </a:r>
          </a:p>
          <a:p>
            <a:pPr marL="0" indent="0">
              <a:buNone/>
            </a:pPr>
            <a:r>
              <a:rPr lang="en-IN" b="1" dirty="0"/>
              <a:t>                          ▼</a:t>
            </a:r>
          </a:p>
          <a:p>
            <a:pPr marL="0" indent="0">
              <a:buNone/>
            </a:pPr>
            <a:r>
              <a:rPr lang="en-IN" b="1" dirty="0"/>
              <a:t>        Toxic │ Severe Toxic │ Obscene</a:t>
            </a:r>
          </a:p>
          <a:p>
            <a:pPr marL="0" indent="0">
              <a:buNone/>
            </a:pPr>
            <a:r>
              <a:rPr lang="en-IN" b="1" dirty="0"/>
              <a:t>        Threat │ Insult │ Identity Hate</a:t>
            </a:r>
          </a:p>
        </p:txBody>
      </p:sp>
      <p:sp>
        <p:nvSpPr>
          <p:cNvPr id="4" name="Text Placeholder 3">
            <a:extLst>
              <a:ext uri="{FF2B5EF4-FFF2-40B4-BE49-F238E27FC236}">
                <a16:creationId xmlns:a16="http://schemas.microsoft.com/office/drawing/2014/main" id="{E4553980-5884-470B-47A2-A2FC477229C4}"/>
              </a:ext>
            </a:extLst>
          </p:cNvPr>
          <p:cNvSpPr>
            <a:spLocks noGrp="1"/>
          </p:cNvSpPr>
          <p:nvPr>
            <p:ph type="body" sz="half" idx="2"/>
          </p:nvPr>
        </p:nvSpPr>
        <p:spPr>
          <a:xfrm>
            <a:off x="0" y="987425"/>
            <a:ext cx="5605670" cy="5870575"/>
          </a:xfrm>
        </p:spPr>
        <p:txBody>
          <a:bodyPr/>
          <a:lstStyle/>
          <a:p>
            <a:r>
              <a:rPr lang="en-IN" sz="2000" b="1" dirty="0"/>
              <a:t>Ensemble Machine Learning Model</a:t>
            </a:r>
          </a:p>
          <a:p>
            <a:r>
              <a:rPr lang="en-IN" sz="2000" dirty="0"/>
              <a:t>The core of this project is an </a:t>
            </a:r>
            <a:r>
              <a:rPr lang="en-IN" sz="2000" b="1" dirty="0"/>
              <a:t>Ensemble Machine Learning Model</a:t>
            </a:r>
            <a:r>
              <a:rPr lang="en-IN" sz="2000" dirty="0"/>
              <a:t> designed to improve the accuracy and robustness of gaming chat toxicity classification. Instead of relying on a single algorithm, the model combines the strengths of </a:t>
            </a:r>
            <a:r>
              <a:rPr lang="en-IN" sz="2000" b="1" dirty="0"/>
              <a:t>Logistic Regression</a:t>
            </a:r>
            <a:r>
              <a:rPr lang="en-IN" sz="2000" dirty="0"/>
              <a:t> and </a:t>
            </a:r>
            <a:r>
              <a:rPr lang="en-IN" sz="2000" b="1" dirty="0"/>
              <a:t>Random Forest</a:t>
            </a:r>
            <a:r>
              <a:rPr lang="en-IN" sz="2000" dirty="0"/>
              <a:t> using a </a:t>
            </a:r>
            <a:r>
              <a:rPr lang="en-IN" sz="2000" b="1" dirty="0"/>
              <a:t>Voting Classifier</a:t>
            </a:r>
            <a:r>
              <a:rPr lang="en-IN" sz="2000" dirty="0"/>
              <a:t>. Since a single gaming chat message can belong to multiple toxicity categories simultaneously, the ensemble model is wrapped inside a </a:t>
            </a:r>
            <a:r>
              <a:rPr lang="en-IN" sz="2000" b="1" dirty="0"/>
              <a:t>Multioutput Classifier</a:t>
            </a:r>
            <a:r>
              <a:rPr lang="en-IN" sz="2000" dirty="0"/>
              <a:t> to perform multi-label classification.</a:t>
            </a:r>
          </a:p>
          <a:p>
            <a:r>
              <a:rPr lang="en-IN" sz="2000" dirty="0"/>
              <a:t>This combination enables the system to produce more reliable predictions and better generalize to unseen gaming chat messages.</a:t>
            </a:r>
          </a:p>
          <a:p>
            <a:endParaRPr lang="en-IN" dirty="0"/>
          </a:p>
        </p:txBody>
      </p:sp>
    </p:spTree>
    <p:extLst>
      <p:ext uri="{BB962C8B-B14F-4D97-AF65-F5344CB8AC3E}">
        <p14:creationId xmlns:p14="http://schemas.microsoft.com/office/powerpoint/2010/main" val="3399334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E91CF54-32A0-1DC6-75C6-65515DF9D2B5}"/>
              </a:ext>
            </a:extLst>
          </p:cNvPr>
          <p:cNvSpPr>
            <a:spLocks noGrp="1"/>
          </p:cNvSpPr>
          <p:nvPr>
            <p:ph type="body" idx="1"/>
          </p:nvPr>
        </p:nvSpPr>
        <p:spPr>
          <a:xfrm>
            <a:off x="325438" y="136524"/>
            <a:ext cx="11866562" cy="6721476"/>
          </a:xfrm>
        </p:spPr>
        <p:txBody>
          <a:bodyPr>
            <a:normAutofit fontScale="32500" lnSpcReduction="20000"/>
          </a:bodyPr>
          <a:lstStyle/>
          <a:p>
            <a:pPr algn="ctr"/>
            <a:r>
              <a:rPr lang="en-IN" sz="9800" b="1" dirty="0">
                <a:solidFill>
                  <a:schemeClr val="tx1"/>
                </a:solidFill>
              </a:rPr>
              <a:t>Model Components</a:t>
            </a:r>
          </a:p>
          <a:p>
            <a:r>
              <a:rPr lang="en-IN" sz="7400" b="1" dirty="0">
                <a:solidFill>
                  <a:schemeClr val="tx1"/>
                </a:solidFill>
              </a:rPr>
              <a:t>1. Logistic Regression</a:t>
            </a:r>
          </a:p>
          <a:p>
            <a:pPr lvl="0"/>
            <a:r>
              <a:rPr lang="en-IN" sz="5500" dirty="0">
                <a:solidFill>
                  <a:schemeClr val="tx1"/>
                </a:solidFill>
              </a:rPr>
              <a:t>A linear classification algorithm. </a:t>
            </a:r>
          </a:p>
          <a:p>
            <a:pPr lvl="0"/>
            <a:r>
              <a:rPr lang="en-IN" sz="5500" dirty="0">
                <a:solidFill>
                  <a:schemeClr val="tx1"/>
                </a:solidFill>
              </a:rPr>
              <a:t>Works well with high-dimensional TF-IDF features. </a:t>
            </a:r>
          </a:p>
          <a:p>
            <a:pPr lvl="0"/>
            <a:r>
              <a:rPr lang="en-IN" sz="5500" dirty="0">
                <a:solidFill>
                  <a:schemeClr val="tx1"/>
                </a:solidFill>
              </a:rPr>
              <a:t>Provides probability estimates for each toxicity label. </a:t>
            </a:r>
          </a:p>
          <a:p>
            <a:pPr lvl="0"/>
            <a:r>
              <a:rPr lang="en-IN" sz="5500" dirty="0">
                <a:solidFill>
                  <a:schemeClr val="tx1"/>
                </a:solidFill>
              </a:rPr>
              <a:t>Fast to train and efficient for text classification. </a:t>
            </a:r>
          </a:p>
          <a:p>
            <a:r>
              <a:rPr lang="en-IN" sz="5500" dirty="0">
                <a:solidFill>
                  <a:schemeClr val="tx1"/>
                </a:solidFill>
              </a:rPr>
              <a:t>Advantages</a:t>
            </a:r>
          </a:p>
          <a:p>
            <a:pPr lvl="0"/>
            <a:r>
              <a:rPr lang="en-IN" sz="5500" dirty="0">
                <a:solidFill>
                  <a:schemeClr val="tx1"/>
                </a:solidFill>
              </a:rPr>
              <a:t>Simple and interpretable. </a:t>
            </a:r>
          </a:p>
          <a:p>
            <a:pPr lvl="0"/>
            <a:r>
              <a:rPr lang="en-IN" sz="5500" dirty="0">
                <a:solidFill>
                  <a:schemeClr val="tx1"/>
                </a:solidFill>
              </a:rPr>
              <a:t>Handles sparse TF-IDF vectors efficiently. </a:t>
            </a:r>
          </a:p>
          <a:p>
            <a:pPr lvl="0"/>
            <a:r>
              <a:rPr lang="en-IN" sz="5500" dirty="0">
                <a:solidFill>
                  <a:schemeClr val="tx1"/>
                </a:solidFill>
              </a:rPr>
              <a:t>Produces reliable probability scores. </a:t>
            </a:r>
          </a:p>
          <a:p>
            <a:endParaRPr lang="en-IN" dirty="0">
              <a:solidFill>
                <a:schemeClr val="tx1"/>
              </a:solidFill>
            </a:endParaRPr>
          </a:p>
          <a:p>
            <a:endParaRPr lang="en-IN" dirty="0">
              <a:solidFill>
                <a:schemeClr val="tx1"/>
              </a:solidFill>
            </a:endParaRPr>
          </a:p>
          <a:p>
            <a:r>
              <a:rPr lang="en-IN" sz="6000" b="1" dirty="0">
                <a:solidFill>
                  <a:schemeClr val="tx1"/>
                </a:solidFill>
              </a:rPr>
              <a:t>2. Random Forest</a:t>
            </a:r>
          </a:p>
          <a:p>
            <a:pPr lvl="0"/>
            <a:r>
              <a:rPr lang="en-IN" sz="5500" dirty="0">
                <a:solidFill>
                  <a:schemeClr val="tx1"/>
                </a:solidFill>
              </a:rPr>
              <a:t>An ensemble of multiple decision trees. </a:t>
            </a:r>
          </a:p>
          <a:p>
            <a:pPr lvl="0"/>
            <a:r>
              <a:rPr lang="en-IN" sz="5500" dirty="0">
                <a:solidFill>
                  <a:schemeClr val="tx1"/>
                </a:solidFill>
              </a:rPr>
              <a:t>Learns complex and non-linear relationships in text features. </a:t>
            </a:r>
          </a:p>
          <a:p>
            <a:pPr lvl="0"/>
            <a:r>
              <a:rPr lang="en-IN" sz="5500" dirty="0">
                <a:solidFill>
                  <a:schemeClr val="tx1"/>
                </a:solidFill>
              </a:rPr>
              <a:t>Reduces overfitting through bagging. </a:t>
            </a:r>
          </a:p>
          <a:p>
            <a:pPr lvl="0"/>
            <a:r>
              <a:rPr lang="en-IN" sz="5500" dirty="0">
                <a:solidFill>
                  <a:schemeClr val="tx1"/>
                </a:solidFill>
              </a:rPr>
              <a:t>Improves robustness and prediction accuracy. </a:t>
            </a:r>
          </a:p>
          <a:p>
            <a:r>
              <a:rPr lang="en-IN" sz="5500" dirty="0">
                <a:solidFill>
                  <a:schemeClr val="tx1"/>
                </a:solidFill>
              </a:rPr>
              <a:t>Advantages</a:t>
            </a:r>
          </a:p>
          <a:p>
            <a:pPr lvl="0"/>
            <a:r>
              <a:rPr lang="en-IN" sz="5500" dirty="0">
                <a:solidFill>
                  <a:schemeClr val="tx1"/>
                </a:solidFill>
              </a:rPr>
              <a:t>Handles complex patterns. </a:t>
            </a:r>
          </a:p>
          <a:p>
            <a:pPr lvl="0"/>
            <a:r>
              <a:rPr lang="en-IN" sz="5500" dirty="0">
                <a:solidFill>
                  <a:schemeClr val="tx1"/>
                </a:solidFill>
              </a:rPr>
              <a:t>Resistant to noise and overfitting. </a:t>
            </a:r>
          </a:p>
          <a:p>
            <a:pPr lvl="0"/>
            <a:r>
              <a:rPr lang="en-IN" sz="5500" dirty="0">
                <a:solidFill>
                  <a:schemeClr val="tx1"/>
                </a:solidFill>
              </a:rPr>
              <a:t>Captures feature interactions effectively.</a:t>
            </a:r>
          </a:p>
          <a:p>
            <a:endParaRPr lang="en-IN" dirty="0"/>
          </a:p>
        </p:txBody>
      </p:sp>
    </p:spTree>
    <p:extLst>
      <p:ext uri="{BB962C8B-B14F-4D97-AF65-F5344CB8AC3E}">
        <p14:creationId xmlns:p14="http://schemas.microsoft.com/office/powerpoint/2010/main" val="3536754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6113BC-EFE0-EB16-09F8-D4ECBE395DD3}"/>
              </a:ext>
            </a:extLst>
          </p:cNvPr>
          <p:cNvSpPr>
            <a:spLocks noGrp="1"/>
          </p:cNvSpPr>
          <p:nvPr>
            <p:ph type="body" idx="1"/>
          </p:nvPr>
        </p:nvSpPr>
        <p:spPr>
          <a:xfrm>
            <a:off x="474041" y="226184"/>
            <a:ext cx="10515600" cy="6194494"/>
          </a:xfrm>
        </p:spPr>
        <p:txBody>
          <a:bodyPr>
            <a:normAutofit/>
          </a:bodyPr>
          <a:lstStyle/>
          <a:p>
            <a:r>
              <a:rPr lang="en-IN" b="1" dirty="0">
                <a:solidFill>
                  <a:schemeClr val="tx1"/>
                </a:solidFill>
              </a:rPr>
              <a:t>3. Voting Classifier (Soft Voting)</a:t>
            </a:r>
          </a:p>
          <a:p>
            <a:r>
              <a:rPr lang="en-IN" sz="2000" dirty="0">
                <a:solidFill>
                  <a:schemeClr val="tx1"/>
                </a:solidFill>
              </a:rPr>
              <a:t>The Voting Classifier combines the probability predictions from both base models.</a:t>
            </a:r>
          </a:p>
          <a:p>
            <a:r>
              <a:rPr lang="en-IN" sz="2000" dirty="0">
                <a:solidFill>
                  <a:schemeClr val="tx1"/>
                </a:solidFill>
              </a:rPr>
              <a:t>Instead of selecting the prediction from only one model, it averages the predicted probabilities and chooses the final output.</a:t>
            </a:r>
          </a:p>
          <a:p>
            <a:endParaRPr lang="en-IN" dirty="0">
              <a:solidFill>
                <a:schemeClr val="tx1"/>
              </a:solidFill>
            </a:endParaRPr>
          </a:p>
          <a:p>
            <a:r>
              <a:rPr lang="en-IN" sz="2000" b="1" dirty="0">
                <a:solidFill>
                  <a:schemeClr val="tx1"/>
                </a:solidFill>
              </a:rPr>
              <a:t>Logistic Regression Probability</a:t>
            </a:r>
          </a:p>
          <a:p>
            <a:r>
              <a:rPr lang="en-IN" sz="2000" b="1" dirty="0">
                <a:solidFill>
                  <a:schemeClr val="tx1"/>
                </a:solidFill>
              </a:rPr>
              <a:t>                +</a:t>
            </a:r>
          </a:p>
          <a:p>
            <a:r>
              <a:rPr lang="en-IN" sz="2000" b="1" dirty="0">
                <a:solidFill>
                  <a:schemeClr val="tx1"/>
                </a:solidFill>
              </a:rPr>
              <a:t>Random Forest Probability</a:t>
            </a:r>
          </a:p>
          <a:p>
            <a:r>
              <a:rPr lang="en-IN" sz="2000" b="1" dirty="0">
                <a:solidFill>
                  <a:schemeClr val="tx1"/>
                </a:solidFill>
              </a:rPr>
              <a:t>                 │</a:t>
            </a:r>
          </a:p>
          <a:p>
            <a:r>
              <a:rPr lang="en-IN" sz="2000" b="1" dirty="0">
                <a:solidFill>
                  <a:schemeClr val="tx1"/>
                </a:solidFill>
              </a:rPr>
              <a:t>                ▼</a:t>
            </a:r>
          </a:p>
          <a:p>
            <a:r>
              <a:rPr lang="en-IN" sz="2000" b="1" dirty="0">
                <a:solidFill>
                  <a:schemeClr val="tx1"/>
                </a:solidFill>
              </a:rPr>
              <a:t>      Average Probability</a:t>
            </a:r>
          </a:p>
          <a:p>
            <a:r>
              <a:rPr lang="en-IN" sz="2000" b="1" dirty="0">
                <a:solidFill>
                  <a:schemeClr val="tx1"/>
                </a:solidFill>
              </a:rPr>
              <a:t>                 │</a:t>
            </a:r>
          </a:p>
          <a:p>
            <a:r>
              <a:rPr lang="en-IN" sz="2000" b="1" dirty="0">
                <a:solidFill>
                  <a:schemeClr val="tx1"/>
                </a:solidFill>
              </a:rPr>
              <a:t>                ▼</a:t>
            </a:r>
          </a:p>
          <a:p>
            <a:r>
              <a:rPr lang="en-IN" sz="2000" b="1" dirty="0">
                <a:solidFill>
                  <a:schemeClr val="tx1"/>
                </a:solidFill>
              </a:rPr>
              <a:t>       Final Prediction</a:t>
            </a:r>
          </a:p>
          <a:p>
            <a:endParaRPr lang="en-IN" dirty="0"/>
          </a:p>
        </p:txBody>
      </p:sp>
    </p:spTree>
    <p:extLst>
      <p:ext uri="{BB962C8B-B14F-4D97-AF65-F5344CB8AC3E}">
        <p14:creationId xmlns:p14="http://schemas.microsoft.com/office/powerpoint/2010/main" val="4279217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7E4D57F-1732-C4B3-C60A-3061FC9130A7}"/>
              </a:ext>
            </a:extLst>
          </p:cNvPr>
          <p:cNvSpPr>
            <a:spLocks noGrp="1"/>
          </p:cNvSpPr>
          <p:nvPr>
            <p:ph type="body" idx="1"/>
          </p:nvPr>
        </p:nvSpPr>
        <p:spPr>
          <a:xfrm>
            <a:off x="523875" y="146050"/>
            <a:ext cx="10515600" cy="6205054"/>
          </a:xfrm>
        </p:spPr>
        <p:txBody>
          <a:bodyPr>
            <a:normAutofit/>
          </a:bodyPr>
          <a:lstStyle/>
          <a:p>
            <a:r>
              <a:rPr lang="en-IN" b="1" dirty="0">
                <a:solidFill>
                  <a:schemeClr val="tx1"/>
                </a:solidFill>
              </a:rPr>
              <a:t>Why an Ensemble Model?</a:t>
            </a:r>
          </a:p>
          <a:p>
            <a:pPr lvl="0"/>
            <a:r>
              <a:rPr lang="en-IN" sz="2000" dirty="0">
                <a:solidFill>
                  <a:schemeClr val="tx1"/>
                </a:solidFill>
              </a:rPr>
              <a:t>Combines the strengths of multiple machine learning algorithms. </a:t>
            </a:r>
          </a:p>
          <a:p>
            <a:pPr lvl="0"/>
            <a:r>
              <a:rPr lang="en-IN" sz="2000" dirty="0">
                <a:solidFill>
                  <a:schemeClr val="tx1"/>
                </a:solidFill>
              </a:rPr>
              <a:t>Improves prediction accuracy compared to a single classifier. </a:t>
            </a:r>
          </a:p>
          <a:p>
            <a:pPr lvl="0"/>
            <a:r>
              <a:rPr lang="en-IN" sz="2000" dirty="0">
                <a:solidFill>
                  <a:schemeClr val="tx1"/>
                </a:solidFill>
              </a:rPr>
              <a:t>Produces more reliable and stable predictions. </a:t>
            </a:r>
          </a:p>
          <a:p>
            <a:pPr lvl="0"/>
            <a:r>
              <a:rPr lang="en-IN" sz="2000" dirty="0">
                <a:solidFill>
                  <a:schemeClr val="tx1"/>
                </a:solidFill>
              </a:rPr>
              <a:t>Handles diverse toxicity patterns effectively. </a:t>
            </a:r>
          </a:p>
          <a:p>
            <a:pPr lvl="0"/>
            <a:r>
              <a:rPr lang="en-IN" sz="2000" dirty="0">
                <a:solidFill>
                  <a:schemeClr val="tx1"/>
                </a:solidFill>
              </a:rPr>
              <a:t>Reduces the limitations of individual models. </a:t>
            </a:r>
          </a:p>
          <a:p>
            <a:br>
              <a:rPr lang="en-IN" dirty="0">
                <a:solidFill>
                  <a:schemeClr val="tx1"/>
                </a:solidFill>
              </a:rPr>
            </a:br>
            <a:endParaRPr lang="en-IN" dirty="0">
              <a:solidFill>
                <a:schemeClr val="tx1"/>
              </a:solidFill>
            </a:endParaRPr>
          </a:p>
          <a:p>
            <a:r>
              <a:rPr lang="en-IN" b="1" dirty="0">
                <a:solidFill>
                  <a:schemeClr val="tx1"/>
                </a:solidFill>
              </a:rPr>
              <a:t>Advantages in This Project</a:t>
            </a:r>
          </a:p>
          <a:p>
            <a:pPr lvl="0"/>
            <a:r>
              <a:rPr lang="en-IN" sz="2000" dirty="0">
                <a:solidFill>
                  <a:schemeClr val="tx1"/>
                </a:solidFill>
              </a:rPr>
              <a:t>Accurate multi-label toxicity classification. </a:t>
            </a:r>
          </a:p>
          <a:p>
            <a:pPr lvl="0"/>
            <a:r>
              <a:rPr lang="en-IN" sz="2000" dirty="0">
                <a:solidFill>
                  <a:schemeClr val="tx1"/>
                </a:solidFill>
              </a:rPr>
              <a:t>Efficient handling of TF-IDF feature vectors. </a:t>
            </a:r>
          </a:p>
          <a:p>
            <a:pPr lvl="0"/>
            <a:r>
              <a:rPr lang="en-IN" sz="2000" dirty="0">
                <a:solidFill>
                  <a:schemeClr val="tx1"/>
                </a:solidFill>
              </a:rPr>
              <a:t>Robust prediction using complementary models. </a:t>
            </a:r>
          </a:p>
          <a:p>
            <a:pPr lvl="0"/>
            <a:r>
              <a:rPr lang="en-IN" sz="2000" dirty="0">
                <a:solidFill>
                  <a:schemeClr val="tx1"/>
                </a:solidFill>
              </a:rPr>
              <a:t>Scalable and suitable for real-time gaming chat moderation. </a:t>
            </a:r>
          </a:p>
          <a:p>
            <a:pPr lvl="0"/>
            <a:r>
              <a:rPr lang="en-IN" sz="2000" dirty="0">
                <a:solidFill>
                  <a:schemeClr val="tx1"/>
                </a:solidFill>
              </a:rPr>
              <a:t>Generates probability scores used for severity calculation and moderation decisions. </a:t>
            </a:r>
          </a:p>
          <a:p>
            <a:endParaRPr lang="en-IN" dirty="0"/>
          </a:p>
        </p:txBody>
      </p:sp>
    </p:spTree>
    <p:extLst>
      <p:ext uri="{BB962C8B-B14F-4D97-AF65-F5344CB8AC3E}">
        <p14:creationId xmlns:p14="http://schemas.microsoft.com/office/powerpoint/2010/main" val="3630537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F964-F3D0-DAA6-411E-C203FB1D5C6F}"/>
              </a:ext>
            </a:extLst>
          </p:cNvPr>
          <p:cNvSpPr>
            <a:spLocks noGrp="1"/>
          </p:cNvSpPr>
          <p:nvPr>
            <p:ph type="title"/>
          </p:nvPr>
        </p:nvSpPr>
        <p:spPr>
          <a:xfrm>
            <a:off x="185806" y="30027"/>
            <a:ext cx="10240342" cy="834678"/>
          </a:xfrm>
        </p:spPr>
        <p:txBody>
          <a:bodyPr>
            <a:normAutofit fontScale="90000"/>
          </a:bodyPr>
          <a:lstStyle/>
          <a:p>
            <a:pPr algn="ctr"/>
            <a:r>
              <a:rPr lang="en-IN" dirty="0"/>
              <a:t>Model Training</a:t>
            </a:r>
          </a:p>
        </p:txBody>
      </p:sp>
      <p:sp>
        <p:nvSpPr>
          <p:cNvPr id="3" name="Text Placeholder 2">
            <a:extLst>
              <a:ext uri="{FF2B5EF4-FFF2-40B4-BE49-F238E27FC236}">
                <a16:creationId xmlns:a16="http://schemas.microsoft.com/office/drawing/2014/main" id="{07EFB9F3-3098-63B6-BBDD-AC9C571FEEDD}"/>
              </a:ext>
            </a:extLst>
          </p:cNvPr>
          <p:cNvSpPr>
            <a:spLocks noGrp="1"/>
          </p:cNvSpPr>
          <p:nvPr>
            <p:ph type="body" idx="1"/>
          </p:nvPr>
        </p:nvSpPr>
        <p:spPr>
          <a:xfrm>
            <a:off x="185806" y="703263"/>
            <a:ext cx="5910194" cy="5667720"/>
          </a:xfrm>
        </p:spPr>
        <p:txBody>
          <a:bodyPr/>
          <a:lstStyle/>
          <a:p>
            <a:pPr marL="457200" indent="-457200">
              <a:buFont typeface="Wingdings" panose="05000000000000000000" pitchFamily="2" charset="2"/>
              <a:buChar char="Ø"/>
            </a:pPr>
            <a:r>
              <a:rPr lang="en-IN" sz="2800" b="1" dirty="0">
                <a:solidFill>
                  <a:schemeClr val="tx1"/>
                </a:solidFill>
              </a:rPr>
              <a:t>Model Training</a:t>
            </a:r>
          </a:p>
          <a:p>
            <a:r>
              <a:rPr lang="en-IN" sz="2000" dirty="0">
                <a:solidFill>
                  <a:schemeClr val="tx1"/>
                </a:solidFill>
              </a:rPr>
              <a:t>After preprocessing the gaming chat messages and converting them into numerical features using the TF-IDF Vectorizer, the Ensemble Machine Learning model was trained to perform multi-label toxicity classification. The training process involved preparing the dataset, fitting the ensemble model, and measuring the training time to evaluate computational efficiency.</a:t>
            </a:r>
          </a:p>
          <a:p>
            <a:r>
              <a:rPr lang="en-IN" sz="2000" dirty="0">
                <a:solidFill>
                  <a:schemeClr val="tx1"/>
                </a:solidFill>
              </a:rPr>
              <a:t>The model combines </a:t>
            </a:r>
            <a:r>
              <a:rPr lang="en-IN" sz="2000" b="1" dirty="0">
                <a:solidFill>
                  <a:schemeClr val="tx1"/>
                </a:solidFill>
              </a:rPr>
              <a:t>Logistic Regression</a:t>
            </a:r>
            <a:r>
              <a:rPr lang="en-IN" sz="2000" dirty="0">
                <a:solidFill>
                  <a:schemeClr val="tx1"/>
                </a:solidFill>
              </a:rPr>
              <a:t> and </a:t>
            </a:r>
            <a:r>
              <a:rPr lang="en-IN" sz="2000" b="1" dirty="0">
                <a:solidFill>
                  <a:schemeClr val="tx1"/>
                </a:solidFill>
              </a:rPr>
              <a:t>Random Forest</a:t>
            </a:r>
            <a:r>
              <a:rPr lang="en-IN" sz="2000" dirty="0">
                <a:solidFill>
                  <a:schemeClr val="tx1"/>
                </a:solidFill>
              </a:rPr>
              <a:t> classifiers using a </a:t>
            </a:r>
            <a:r>
              <a:rPr lang="en-IN" sz="2000" b="1" dirty="0">
                <a:solidFill>
                  <a:schemeClr val="tx1"/>
                </a:solidFill>
              </a:rPr>
              <a:t>Soft Voting Classifier</a:t>
            </a:r>
            <a:r>
              <a:rPr lang="en-IN" sz="2000" dirty="0">
                <a:solidFill>
                  <a:schemeClr val="tx1"/>
                </a:solidFill>
              </a:rPr>
              <a:t>, which is then wrapped inside a </a:t>
            </a:r>
            <a:r>
              <a:rPr lang="en-IN" sz="2000" b="1" dirty="0">
                <a:solidFill>
                  <a:schemeClr val="tx1"/>
                </a:solidFill>
              </a:rPr>
              <a:t>Multioutput Classifier</a:t>
            </a:r>
            <a:r>
              <a:rPr lang="en-IN" sz="2000" dirty="0">
                <a:solidFill>
                  <a:schemeClr val="tx1"/>
                </a:solidFill>
              </a:rPr>
              <a:t> to predict multiple toxicity labels simultaneously.</a:t>
            </a:r>
          </a:p>
          <a:p>
            <a:endParaRPr lang="en-IN" dirty="0"/>
          </a:p>
        </p:txBody>
      </p:sp>
    </p:spTree>
    <p:extLst>
      <p:ext uri="{BB962C8B-B14F-4D97-AF65-F5344CB8AC3E}">
        <p14:creationId xmlns:p14="http://schemas.microsoft.com/office/powerpoint/2010/main" val="1900492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695F0F1-9141-A621-61C9-CAA97D0041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53139" y="0"/>
            <a:ext cx="7504044" cy="6857999"/>
          </a:xfrm>
          <a:prstGeom prst="rect">
            <a:avLst/>
          </a:prstGeom>
        </p:spPr>
      </p:pic>
    </p:spTree>
    <p:extLst>
      <p:ext uri="{BB962C8B-B14F-4D97-AF65-F5344CB8AC3E}">
        <p14:creationId xmlns:p14="http://schemas.microsoft.com/office/powerpoint/2010/main" val="807501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1FDA4-D5B5-E65C-B15F-DEE298B123EE}"/>
              </a:ext>
            </a:extLst>
          </p:cNvPr>
          <p:cNvSpPr>
            <a:spLocks noGrp="1"/>
          </p:cNvSpPr>
          <p:nvPr>
            <p:ph type="title"/>
          </p:nvPr>
        </p:nvSpPr>
        <p:spPr>
          <a:xfrm>
            <a:off x="838200" y="1"/>
            <a:ext cx="10515600" cy="854764"/>
          </a:xfrm>
        </p:spPr>
        <p:txBody>
          <a:bodyPr>
            <a:normAutofit/>
          </a:bodyPr>
          <a:lstStyle/>
          <a:p>
            <a:pPr algn="ctr"/>
            <a:r>
              <a:rPr lang="en-IN" dirty="0"/>
              <a:t>Training Process</a:t>
            </a:r>
          </a:p>
        </p:txBody>
      </p:sp>
      <p:sp>
        <p:nvSpPr>
          <p:cNvPr id="3" name="Content Placeholder 2">
            <a:extLst>
              <a:ext uri="{FF2B5EF4-FFF2-40B4-BE49-F238E27FC236}">
                <a16:creationId xmlns:a16="http://schemas.microsoft.com/office/drawing/2014/main" id="{AB65F300-E582-B594-3CF3-BFE79330266E}"/>
              </a:ext>
            </a:extLst>
          </p:cNvPr>
          <p:cNvSpPr>
            <a:spLocks noGrp="1"/>
          </p:cNvSpPr>
          <p:nvPr>
            <p:ph idx="1"/>
          </p:nvPr>
        </p:nvSpPr>
        <p:spPr>
          <a:xfrm>
            <a:off x="791817" y="636104"/>
            <a:ext cx="10515600" cy="5913783"/>
          </a:xfrm>
        </p:spPr>
        <p:txBody>
          <a:bodyPr>
            <a:normAutofit fontScale="25000" lnSpcReduction="20000"/>
          </a:bodyPr>
          <a:lstStyle/>
          <a:p>
            <a:r>
              <a:rPr lang="en-IN" sz="9600" b="1" dirty="0"/>
              <a:t>Step 1: Prepare Training Data</a:t>
            </a:r>
          </a:p>
          <a:p>
            <a:pPr marL="0" lvl="0" indent="0">
              <a:buNone/>
            </a:pPr>
            <a:r>
              <a:rPr lang="en-IN" sz="6400" dirty="0"/>
              <a:t>          Use the balanced dataset to reduce class imbalance. </a:t>
            </a:r>
          </a:p>
          <a:p>
            <a:pPr marL="0" lvl="0" indent="0">
              <a:buNone/>
            </a:pPr>
            <a:r>
              <a:rPr lang="en-IN" sz="6400" dirty="0"/>
              <a:t>          Split the dataset into </a:t>
            </a:r>
            <a:r>
              <a:rPr lang="en-IN" sz="6400" b="1" dirty="0"/>
              <a:t>80% training</a:t>
            </a:r>
            <a:r>
              <a:rPr lang="en-IN" sz="6400" dirty="0"/>
              <a:t> and </a:t>
            </a:r>
            <a:r>
              <a:rPr lang="en-IN" sz="6400" b="1" dirty="0"/>
              <a:t>20% testing</a:t>
            </a:r>
            <a:r>
              <a:rPr lang="en-IN" sz="6400" dirty="0"/>
              <a:t>. </a:t>
            </a:r>
          </a:p>
          <a:p>
            <a:pPr marL="0" lvl="0" indent="0">
              <a:buNone/>
            </a:pPr>
            <a:r>
              <a:rPr lang="en-IN" sz="6400" dirty="0"/>
              <a:t>          Extract TF-IDF features from the training text. </a:t>
            </a:r>
          </a:p>
          <a:p>
            <a:pPr marL="0" lvl="0" indent="0">
              <a:buNone/>
            </a:pPr>
            <a:endParaRPr lang="en-IN" sz="6400" dirty="0"/>
          </a:p>
          <a:p>
            <a:r>
              <a:rPr lang="en-IN" sz="9600" b="1" dirty="0"/>
              <a:t>Step 2: Initialize Base Models</a:t>
            </a:r>
          </a:p>
          <a:p>
            <a:pPr marL="0" indent="0">
              <a:buNone/>
            </a:pPr>
            <a:r>
              <a:rPr lang="en-IN" sz="6400" dirty="0"/>
              <a:t>           Two machine learning algorithms are selected:</a:t>
            </a:r>
          </a:p>
          <a:p>
            <a:pPr lvl="0"/>
            <a:r>
              <a:rPr lang="en-IN" sz="7200" b="1" dirty="0"/>
              <a:t>Logistic Regression</a:t>
            </a:r>
            <a:r>
              <a:rPr lang="en-IN" sz="7200" dirty="0"/>
              <a:t> </a:t>
            </a:r>
          </a:p>
          <a:p>
            <a:pPr marL="457200" lvl="1" indent="0">
              <a:buNone/>
            </a:pPr>
            <a:r>
              <a:rPr lang="en-IN" sz="6400" dirty="0"/>
              <a:t>Fast and efficient for text classification. </a:t>
            </a:r>
          </a:p>
          <a:p>
            <a:pPr marL="457200" lvl="1" indent="0">
              <a:buNone/>
            </a:pPr>
            <a:r>
              <a:rPr lang="en-IN" sz="6400" dirty="0"/>
              <a:t>Performs well with sparse TF-IDF vectors. </a:t>
            </a:r>
          </a:p>
          <a:p>
            <a:pPr lvl="0"/>
            <a:r>
              <a:rPr lang="en-IN" sz="7200" b="1" dirty="0"/>
              <a:t>Random Forest</a:t>
            </a:r>
            <a:r>
              <a:rPr lang="en-IN" sz="7200" dirty="0"/>
              <a:t> </a:t>
            </a:r>
          </a:p>
          <a:p>
            <a:pPr marL="457200" lvl="1" indent="0">
              <a:buNone/>
            </a:pPr>
            <a:r>
              <a:rPr lang="en-IN" sz="6400" dirty="0"/>
              <a:t>Captures complex patterns and non-linear relationships. </a:t>
            </a:r>
          </a:p>
          <a:p>
            <a:pPr marL="457200" lvl="1" indent="0">
              <a:buNone/>
            </a:pPr>
            <a:r>
              <a:rPr lang="en-IN" sz="6400" dirty="0"/>
              <a:t>Reduces overfitting through multiple decision trees. </a:t>
            </a:r>
          </a:p>
          <a:p>
            <a:pPr marL="0" indent="0">
              <a:buNone/>
            </a:pPr>
            <a:br>
              <a:rPr lang="en-IN" sz="6400" dirty="0"/>
            </a:br>
            <a:endParaRPr lang="en-IN" sz="6400" dirty="0"/>
          </a:p>
          <a:p>
            <a:r>
              <a:rPr lang="en-IN" sz="9600" b="1" dirty="0"/>
              <a:t>Step 3: Create Voting Classifier</a:t>
            </a:r>
          </a:p>
          <a:p>
            <a:pPr marL="0" lvl="0" indent="0">
              <a:buNone/>
            </a:pPr>
            <a:r>
              <a:rPr lang="en-IN" sz="6400" dirty="0"/>
              <a:t>     Combine Logistic Regression and Random Forest. </a:t>
            </a:r>
          </a:p>
          <a:p>
            <a:pPr marL="0" lvl="0" indent="0">
              <a:buNone/>
            </a:pPr>
            <a:r>
              <a:rPr lang="en-IN" sz="6400" dirty="0"/>
              <a:t>     Use </a:t>
            </a:r>
            <a:r>
              <a:rPr lang="en-IN" sz="6400" b="1" dirty="0"/>
              <a:t>Soft Voting</a:t>
            </a:r>
            <a:r>
              <a:rPr lang="en-IN" sz="6400" dirty="0"/>
              <a:t> to average prediction probabilities. </a:t>
            </a:r>
          </a:p>
          <a:p>
            <a:pPr marL="0" lvl="0" indent="0">
              <a:buNone/>
            </a:pPr>
            <a:r>
              <a:rPr lang="en-IN" sz="6400" dirty="0"/>
              <a:t>     Produce a more accurate final prediction. </a:t>
            </a:r>
          </a:p>
          <a:p>
            <a:pPr marL="0" indent="0">
              <a:buNone/>
            </a:pPr>
            <a:br>
              <a:rPr lang="en-IN" sz="5500" dirty="0"/>
            </a:br>
            <a:endParaRPr lang="en-IN" sz="5500" dirty="0"/>
          </a:p>
          <a:p>
            <a:pPr marL="0" indent="0">
              <a:buNone/>
            </a:pPr>
            <a:endParaRPr lang="en-IN" dirty="0"/>
          </a:p>
        </p:txBody>
      </p:sp>
    </p:spTree>
    <p:extLst>
      <p:ext uri="{BB962C8B-B14F-4D97-AF65-F5344CB8AC3E}">
        <p14:creationId xmlns:p14="http://schemas.microsoft.com/office/powerpoint/2010/main" val="2503390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289277-588F-E06E-62C8-BCFFC01C20DB}"/>
              </a:ext>
            </a:extLst>
          </p:cNvPr>
          <p:cNvSpPr txBox="1"/>
          <p:nvPr/>
        </p:nvSpPr>
        <p:spPr>
          <a:xfrm>
            <a:off x="129208" y="0"/>
            <a:ext cx="6361044" cy="6678751"/>
          </a:xfrm>
          <a:prstGeom prst="rect">
            <a:avLst/>
          </a:prstGeom>
          <a:noFill/>
        </p:spPr>
        <p:txBody>
          <a:bodyPr wrap="square">
            <a:spAutoFit/>
          </a:bodyPr>
          <a:lstStyle/>
          <a:p>
            <a:pPr>
              <a:buNone/>
            </a:pPr>
            <a:r>
              <a:rPr lang="en-IN" sz="2400" b="1" dirty="0"/>
              <a:t>Step 4: Multi-Label Training</a:t>
            </a:r>
          </a:p>
          <a:p>
            <a:pPr lvl="0"/>
            <a:r>
              <a:rPr lang="en-IN" sz="2000" dirty="0"/>
              <a:t>Wrap the Voting Classifier inside a </a:t>
            </a:r>
            <a:r>
              <a:rPr lang="en-IN" sz="2000" b="1" dirty="0"/>
              <a:t>Multioutput Classifier</a:t>
            </a:r>
            <a:r>
              <a:rPr lang="en-IN" sz="2000" dirty="0"/>
              <a:t>. </a:t>
            </a:r>
          </a:p>
          <a:p>
            <a:pPr lvl="0"/>
            <a:r>
              <a:rPr lang="en-IN" sz="2000" dirty="0"/>
              <a:t>Train one classifier for each toxicity category. </a:t>
            </a:r>
          </a:p>
          <a:p>
            <a:pPr lvl="0"/>
            <a:r>
              <a:rPr lang="en-IN" sz="2000" dirty="0"/>
              <a:t>Enable simultaneous prediction of: </a:t>
            </a:r>
          </a:p>
          <a:p>
            <a:pPr marL="742950" lvl="1" indent="-285750">
              <a:buFont typeface="Arial" panose="020B0604020202020204" pitchFamily="34" charset="0"/>
              <a:buChar char="•"/>
            </a:pPr>
            <a:r>
              <a:rPr lang="en-IN" sz="2000" b="1" dirty="0"/>
              <a:t>Toxic </a:t>
            </a:r>
          </a:p>
          <a:p>
            <a:pPr marL="742950" lvl="1" indent="-285750">
              <a:buFont typeface="Arial" panose="020B0604020202020204" pitchFamily="34" charset="0"/>
              <a:buChar char="•"/>
            </a:pPr>
            <a:r>
              <a:rPr lang="en-IN" sz="2000" b="1" dirty="0"/>
              <a:t>Severe Toxic </a:t>
            </a:r>
          </a:p>
          <a:p>
            <a:pPr marL="742950" lvl="1" indent="-285750">
              <a:buFont typeface="Arial" panose="020B0604020202020204" pitchFamily="34" charset="0"/>
              <a:buChar char="•"/>
            </a:pPr>
            <a:r>
              <a:rPr lang="en-IN" sz="2000" b="1" dirty="0"/>
              <a:t>Obscene </a:t>
            </a:r>
          </a:p>
          <a:p>
            <a:pPr marL="742950" lvl="1" indent="-285750">
              <a:buFont typeface="Arial" panose="020B0604020202020204" pitchFamily="34" charset="0"/>
              <a:buChar char="•"/>
            </a:pPr>
            <a:r>
              <a:rPr lang="en-IN" sz="2000" b="1" dirty="0"/>
              <a:t>Threat </a:t>
            </a:r>
          </a:p>
          <a:p>
            <a:pPr marL="742950" lvl="1" indent="-285750">
              <a:buFont typeface="Arial" panose="020B0604020202020204" pitchFamily="34" charset="0"/>
              <a:buChar char="•"/>
            </a:pPr>
            <a:r>
              <a:rPr lang="en-IN" sz="2000" b="1" dirty="0"/>
              <a:t>Insult </a:t>
            </a:r>
          </a:p>
          <a:p>
            <a:pPr marL="742950" lvl="1" indent="-285750">
              <a:buFont typeface="Arial" panose="020B0604020202020204" pitchFamily="34" charset="0"/>
              <a:buChar char="•"/>
            </a:pPr>
            <a:r>
              <a:rPr lang="en-IN" sz="2000" b="1" dirty="0"/>
              <a:t>Identity Hate </a:t>
            </a:r>
          </a:p>
          <a:p>
            <a:pPr>
              <a:buNone/>
            </a:pPr>
            <a:br>
              <a:rPr lang="en-IN" sz="2400" dirty="0"/>
            </a:br>
            <a:endParaRPr lang="en-IN" sz="2400" dirty="0"/>
          </a:p>
          <a:p>
            <a:pPr>
              <a:buNone/>
            </a:pPr>
            <a:r>
              <a:rPr lang="en-IN" sz="2400" b="1" dirty="0"/>
              <a:t>Step 5: Train the Model</a:t>
            </a:r>
          </a:p>
          <a:p>
            <a:pPr lvl="0"/>
            <a:r>
              <a:rPr lang="en-IN" sz="2000" dirty="0"/>
              <a:t>Train the ensemble model using the TF-IDF feature matrix. </a:t>
            </a:r>
          </a:p>
          <a:p>
            <a:pPr lvl="0"/>
            <a:r>
              <a:rPr lang="en-IN" sz="2000" dirty="0"/>
              <a:t>Measure the total training time. </a:t>
            </a:r>
          </a:p>
          <a:p>
            <a:pPr lvl="0"/>
            <a:r>
              <a:rPr lang="en-IN" sz="2000" dirty="0"/>
              <a:t>Store the trained model for future predictions. </a:t>
            </a:r>
          </a:p>
          <a:p>
            <a:pPr>
              <a:buNone/>
            </a:pPr>
            <a:br>
              <a:rPr lang="en-IN" dirty="0"/>
            </a:br>
            <a:endParaRPr lang="en-IN" dirty="0"/>
          </a:p>
        </p:txBody>
      </p:sp>
    </p:spTree>
    <p:extLst>
      <p:ext uri="{BB962C8B-B14F-4D97-AF65-F5344CB8AC3E}">
        <p14:creationId xmlns:p14="http://schemas.microsoft.com/office/powerpoint/2010/main" val="2687880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5E66-F6F1-D8D3-5610-7C638F3681BF}"/>
              </a:ext>
            </a:extLst>
          </p:cNvPr>
          <p:cNvSpPr>
            <a:spLocks noGrp="1"/>
          </p:cNvSpPr>
          <p:nvPr>
            <p:ph type="title"/>
          </p:nvPr>
        </p:nvSpPr>
        <p:spPr>
          <a:xfrm>
            <a:off x="838200" y="18256"/>
            <a:ext cx="10515600" cy="816632"/>
          </a:xfrm>
        </p:spPr>
        <p:txBody>
          <a:bodyPr/>
          <a:lstStyle/>
          <a:p>
            <a:pPr algn="ctr"/>
            <a:r>
              <a:rPr lang="en-IN" b="1" dirty="0"/>
              <a:t>Training Configuration</a:t>
            </a:r>
          </a:p>
        </p:txBody>
      </p:sp>
      <p:graphicFrame>
        <p:nvGraphicFramePr>
          <p:cNvPr id="24" name="Content Placeholder 23">
            <a:extLst>
              <a:ext uri="{FF2B5EF4-FFF2-40B4-BE49-F238E27FC236}">
                <a16:creationId xmlns:a16="http://schemas.microsoft.com/office/drawing/2014/main" id="{FE9181F9-BB9E-F090-1195-AB97CB3E528E}"/>
              </a:ext>
            </a:extLst>
          </p:cNvPr>
          <p:cNvGraphicFramePr>
            <a:graphicFrameLocks noGrp="1"/>
          </p:cNvGraphicFramePr>
          <p:nvPr>
            <p:ph idx="1"/>
            <p:extLst>
              <p:ext uri="{D42A27DB-BD31-4B8C-83A1-F6EECF244321}">
                <p14:modId xmlns:p14="http://schemas.microsoft.com/office/powerpoint/2010/main" val="1418807713"/>
              </p:ext>
            </p:extLst>
          </p:nvPr>
        </p:nvGraphicFramePr>
        <p:xfrm>
          <a:off x="838200" y="734081"/>
          <a:ext cx="10515600" cy="5726350"/>
        </p:xfrm>
        <a:graphic>
          <a:graphicData uri="http://schemas.openxmlformats.org/drawingml/2006/table">
            <a:tbl>
              <a:tblPr/>
              <a:tblGrid>
                <a:gridCol w="5257800">
                  <a:extLst>
                    <a:ext uri="{9D8B030D-6E8A-4147-A177-3AD203B41FA5}">
                      <a16:colId xmlns:a16="http://schemas.microsoft.com/office/drawing/2014/main" val="2190806813"/>
                    </a:ext>
                  </a:extLst>
                </a:gridCol>
                <a:gridCol w="5257800">
                  <a:extLst>
                    <a:ext uri="{9D8B030D-6E8A-4147-A177-3AD203B41FA5}">
                      <a16:colId xmlns:a16="http://schemas.microsoft.com/office/drawing/2014/main" val="96349158"/>
                    </a:ext>
                  </a:extLst>
                </a:gridCol>
              </a:tblGrid>
              <a:tr h="572635">
                <a:tc>
                  <a:txBody>
                    <a:bodyPr/>
                    <a:lstStyle/>
                    <a:p>
                      <a:pPr>
                        <a:buNone/>
                      </a:pPr>
                      <a:r>
                        <a:rPr lang="en-IN" sz="2000"/>
                        <a:t>Parameter</a:t>
                      </a:r>
                    </a:p>
                  </a:txBody>
                  <a:tcPr anchor="ctr">
                    <a:lnL>
                      <a:noFill/>
                    </a:lnL>
                    <a:lnR>
                      <a:noFill/>
                    </a:lnR>
                    <a:lnT>
                      <a:noFill/>
                    </a:lnT>
                    <a:lnB>
                      <a:noFill/>
                    </a:lnB>
                    <a:noFill/>
                  </a:tcPr>
                </a:tc>
                <a:tc>
                  <a:txBody>
                    <a:bodyPr/>
                    <a:lstStyle/>
                    <a:p>
                      <a:pPr>
                        <a:buNone/>
                      </a:pPr>
                      <a:r>
                        <a:rPr lang="en-IN" sz="2000"/>
                        <a:t>Value</a:t>
                      </a:r>
                    </a:p>
                  </a:txBody>
                  <a:tcPr anchor="ctr">
                    <a:lnL>
                      <a:noFill/>
                    </a:lnL>
                    <a:lnR>
                      <a:noFill/>
                    </a:lnR>
                    <a:lnT>
                      <a:noFill/>
                    </a:lnT>
                    <a:lnB>
                      <a:noFill/>
                    </a:lnB>
                    <a:noFill/>
                  </a:tcPr>
                </a:tc>
                <a:extLst>
                  <a:ext uri="{0D108BD9-81ED-4DB2-BD59-A6C34878D82A}">
                    <a16:rowId xmlns:a16="http://schemas.microsoft.com/office/drawing/2014/main" val="4153170399"/>
                  </a:ext>
                </a:extLst>
              </a:tr>
              <a:tr h="572635">
                <a:tc>
                  <a:txBody>
                    <a:bodyPr/>
                    <a:lstStyle/>
                    <a:p>
                      <a:pPr>
                        <a:buNone/>
                      </a:pPr>
                      <a:r>
                        <a:rPr lang="en-IN" sz="2000" dirty="0"/>
                        <a:t>Feature Extraction</a:t>
                      </a:r>
                    </a:p>
                  </a:txBody>
                  <a:tcPr anchor="ctr">
                    <a:lnL>
                      <a:noFill/>
                    </a:lnL>
                    <a:lnR>
                      <a:noFill/>
                    </a:lnR>
                    <a:lnT>
                      <a:noFill/>
                    </a:lnT>
                    <a:lnB>
                      <a:noFill/>
                    </a:lnB>
                    <a:noFill/>
                  </a:tcPr>
                </a:tc>
                <a:tc>
                  <a:txBody>
                    <a:bodyPr/>
                    <a:lstStyle/>
                    <a:p>
                      <a:pPr>
                        <a:buNone/>
                      </a:pPr>
                      <a:r>
                        <a:rPr lang="en-IN" sz="2000"/>
                        <a:t>TF-IDF Vectorizer</a:t>
                      </a:r>
                    </a:p>
                  </a:txBody>
                  <a:tcPr anchor="ctr">
                    <a:lnL>
                      <a:noFill/>
                    </a:lnL>
                    <a:lnR>
                      <a:noFill/>
                    </a:lnR>
                    <a:lnT>
                      <a:noFill/>
                    </a:lnT>
                    <a:lnB>
                      <a:noFill/>
                    </a:lnB>
                    <a:noFill/>
                  </a:tcPr>
                </a:tc>
                <a:extLst>
                  <a:ext uri="{0D108BD9-81ED-4DB2-BD59-A6C34878D82A}">
                    <a16:rowId xmlns:a16="http://schemas.microsoft.com/office/drawing/2014/main" val="2603168846"/>
                  </a:ext>
                </a:extLst>
              </a:tr>
              <a:tr h="572635">
                <a:tc>
                  <a:txBody>
                    <a:bodyPr/>
                    <a:lstStyle/>
                    <a:p>
                      <a:pPr>
                        <a:buNone/>
                      </a:pPr>
                      <a:r>
                        <a:rPr lang="en-IN" sz="2000" dirty="0"/>
                        <a:t>Base Model 1</a:t>
                      </a:r>
                    </a:p>
                  </a:txBody>
                  <a:tcPr anchor="ctr">
                    <a:lnL>
                      <a:noFill/>
                    </a:lnL>
                    <a:lnR>
                      <a:noFill/>
                    </a:lnR>
                    <a:lnT>
                      <a:noFill/>
                    </a:lnT>
                    <a:lnB>
                      <a:noFill/>
                    </a:lnB>
                    <a:noFill/>
                  </a:tcPr>
                </a:tc>
                <a:tc>
                  <a:txBody>
                    <a:bodyPr/>
                    <a:lstStyle/>
                    <a:p>
                      <a:pPr>
                        <a:buNone/>
                      </a:pPr>
                      <a:r>
                        <a:rPr lang="en-IN" sz="2000"/>
                        <a:t>Logistic Regression</a:t>
                      </a:r>
                    </a:p>
                  </a:txBody>
                  <a:tcPr anchor="ctr">
                    <a:lnL>
                      <a:noFill/>
                    </a:lnL>
                    <a:lnR>
                      <a:noFill/>
                    </a:lnR>
                    <a:lnT>
                      <a:noFill/>
                    </a:lnT>
                    <a:lnB>
                      <a:noFill/>
                    </a:lnB>
                    <a:noFill/>
                  </a:tcPr>
                </a:tc>
                <a:extLst>
                  <a:ext uri="{0D108BD9-81ED-4DB2-BD59-A6C34878D82A}">
                    <a16:rowId xmlns:a16="http://schemas.microsoft.com/office/drawing/2014/main" val="2912171708"/>
                  </a:ext>
                </a:extLst>
              </a:tr>
              <a:tr h="572635">
                <a:tc>
                  <a:txBody>
                    <a:bodyPr/>
                    <a:lstStyle/>
                    <a:p>
                      <a:pPr>
                        <a:buNone/>
                      </a:pPr>
                      <a:r>
                        <a:rPr lang="en-IN" sz="2000"/>
                        <a:t>Base Model 2</a:t>
                      </a:r>
                    </a:p>
                  </a:txBody>
                  <a:tcPr anchor="ctr">
                    <a:lnL>
                      <a:noFill/>
                    </a:lnL>
                    <a:lnR>
                      <a:noFill/>
                    </a:lnR>
                    <a:lnT>
                      <a:noFill/>
                    </a:lnT>
                    <a:lnB>
                      <a:noFill/>
                    </a:lnB>
                    <a:noFill/>
                  </a:tcPr>
                </a:tc>
                <a:tc>
                  <a:txBody>
                    <a:bodyPr/>
                    <a:lstStyle/>
                    <a:p>
                      <a:pPr>
                        <a:buNone/>
                      </a:pPr>
                      <a:r>
                        <a:rPr lang="en-IN" sz="2000"/>
                        <a:t>Random Forest</a:t>
                      </a:r>
                    </a:p>
                  </a:txBody>
                  <a:tcPr anchor="ctr">
                    <a:lnL>
                      <a:noFill/>
                    </a:lnL>
                    <a:lnR>
                      <a:noFill/>
                    </a:lnR>
                    <a:lnT>
                      <a:noFill/>
                    </a:lnT>
                    <a:lnB>
                      <a:noFill/>
                    </a:lnB>
                    <a:noFill/>
                  </a:tcPr>
                </a:tc>
                <a:extLst>
                  <a:ext uri="{0D108BD9-81ED-4DB2-BD59-A6C34878D82A}">
                    <a16:rowId xmlns:a16="http://schemas.microsoft.com/office/drawing/2014/main" val="3308730263"/>
                  </a:ext>
                </a:extLst>
              </a:tr>
              <a:tr h="572635">
                <a:tc>
                  <a:txBody>
                    <a:bodyPr/>
                    <a:lstStyle/>
                    <a:p>
                      <a:pPr>
                        <a:buNone/>
                      </a:pPr>
                      <a:r>
                        <a:rPr lang="en-IN" sz="2000"/>
                        <a:t>Ensemble Method</a:t>
                      </a:r>
                    </a:p>
                  </a:txBody>
                  <a:tcPr anchor="ctr">
                    <a:lnL>
                      <a:noFill/>
                    </a:lnL>
                    <a:lnR>
                      <a:noFill/>
                    </a:lnR>
                    <a:lnT>
                      <a:noFill/>
                    </a:lnT>
                    <a:lnB>
                      <a:noFill/>
                    </a:lnB>
                    <a:noFill/>
                  </a:tcPr>
                </a:tc>
                <a:tc>
                  <a:txBody>
                    <a:bodyPr/>
                    <a:lstStyle/>
                    <a:p>
                      <a:pPr>
                        <a:buNone/>
                      </a:pPr>
                      <a:r>
                        <a:rPr lang="en-IN" sz="2000"/>
                        <a:t>Soft Voting</a:t>
                      </a:r>
                    </a:p>
                  </a:txBody>
                  <a:tcPr anchor="ctr">
                    <a:lnL>
                      <a:noFill/>
                    </a:lnL>
                    <a:lnR>
                      <a:noFill/>
                    </a:lnR>
                    <a:lnT>
                      <a:noFill/>
                    </a:lnT>
                    <a:lnB>
                      <a:noFill/>
                    </a:lnB>
                    <a:noFill/>
                  </a:tcPr>
                </a:tc>
                <a:extLst>
                  <a:ext uri="{0D108BD9-81ED-4DB2-BD59-A6C34878D82A}">
                    <a16:rowId xmlns:a16="http://schemas.microsoft.com/office/drawing/2014/main" val="3019071589"/>
                  </a:ext>
                </a:extLst>
              </a:tr>
              <a:tr h="572635">
                <a:tc>
                  <a:txBody>
                    <a:bodyPr/>
                    <a:lstStyle/>
                    <a:p>
                      <a:pPr>
                        <a:buNone/>
                      </a:pPr>
                      <a:r>
                        <a:rPr lang="en-IN" sz="2000"/>
                        <a:t>Multi-label Technique</a:t>
                      </a:r>
                    </a:p>
                  </a:txBody>
                  <a:tcPr anchor="ctr">
                    <a:lnL>
                      <a:noFill/>
                    </a:lnL>
                    <a:lnR>
                      <a:noFill/>
                    </a:lnR>
                    <a:lnT>
                      <a:noFill/>
                    </a:lnT>
                    <a:lnB>
                      <a:noFill/>
                    </a:lnB>
                    <a:noFill/>
                  </a:tcPr>
                </a:tc>
                <a:tc>
                  <a:txBody>
                    <a:bodyPr/>
                    <a:lstStyle/>
                    <a:p>
                      <a:pPr>
                        <a:buNone/>
                      </a:pPr>
                      <a:r>
                        <a:rPr lang="en-IN" sz="2000"/>
                        <a:t>MultiOutputClassifier</a:t>
                      </a:r>
                    </a:p>
                  </a:txBody>
                  <a:tcPr anchor="ctr">
                    <a:lnL>
                      <a:noFill/>
                    </a:lnL>
                    <a:lnR>
                      <a:noFill/>
                    </a:lnR>
                    <a:lnT>
                      <a:noFill/>
                    </a:lnT>
                    <a:lnB>
                      <a:noFill/>
                    </a:lnB>
                    <a:noFill/>
                  </a:tcPr>
                </a:tc>
                <a:extLst>
                  <a:ext uri="{0D108BD9-81ED-4DB2-BD59-A6C34878D82A}">
                    <a16:rowId xmlns:a16="http://schemas.microsoft.com/office/drawing/2014/main" val="4039149483"/>
                  </a:ext>
                </a:extLst>
              </a:tr>
              <a:tr h="572635">
                <a:tc>
                  <a:txBody>
                    <a:bodyPr/>
                    <a:lstStyle/>
                    <a:p>
                      <a:pPr>
                        <a:buNone/>
                      </a:pPr>
                      <a:r>
                        <a:rPr lang="en-IN" sz="2000"/>
                        <a:t>Train-Test Split</a:t>
                      </a:r>
                    </a:p>
                  </a:txBody>
                  <a:tcPr anchor="ctr">
                    <a:lnL>
                      <a:noFill/>
                    </a:lnL>
                    <a:lnR>
                      <a:noFill/>
                    </a:lnR>
                    <a:lnT>
                      <a:noFill/>
                    </a:lnT>
                    <a:lnB>
                      <a:noFill/>
                    </a:lnB>
                    <a:noFill/>
                  </a:tcPr>
                </a:tc>
                <a:tc>
                  <a:txBody>
                    <a:bodyPr/>
                    <a:lstStyle/>
                    <a:p>
                      <a:pPr>
                        <a:buNone/>
                      </a:pPr>
                      <a:r>
                        <a:rPr lang="en-IN" sz="2000"/>
                        <a:t>80 : 20</a:t>
                      </a:r>
                    </a:p>
                  </a:txBody>
                  <a:tcPr anchor="ctr">
                    <a:lnL>
                      <a:noFill/>
                    </a:lnL>
                    <a:lnR>
                      <a:noFill/>
                    </a:lnR>
                    <a:lnT>
                      <a:noFill/>
                    </a:lnT>
                    <a:lnB>
                      <a:noFill/>
                    </a:lnB>
                    <a:noFill/>
                  </a:tcPr>
                </a:tc>
                <a:extLst>
                  <a:ext uri="{0D108BD9-81ED-4DB2-BD59-A6C34878D82A}">
                    <a16:rowId xmlns:a16="http://schemas.microsoft.com/office/drawing/2014/main" val="1735440099"/>
                  </a:ext>
                </a:extLst>
              </a:tr>
              <a:tr h="572635">
                <a:tc>
                  <a:txBody>
                    <a:bodyPr/>
                    <a:lstStyle/>
                    <a:p>
                      <a:pPr>
                        <a:buNone/>
                      </a:pPr>
                      <a:r>
                        <a:rPr lang="en-IN" sz="2000"/>
                        <a:t>Random State</a:t>
                      </a:r>
                    </a:p>
                  </a:txBody>
                  <a:tcPr anchor="ctr">
                    <a:lnL>
                      <a:noFill/>
                    </a:lnL>
                    <a:lnR>
                      <a:noFill/>
                    </a:lnR>
                    <a:lnT>
                      <a:noFill/>
                    </a:lnT>
                    <a:lnB>
                      <a:noFill/>
                    </a:lnB>
                    <a:noFill/>
                  </a:tcPr>
                </a:tc>
                <a:tc>
                  <a:txBody>
                    <a:bodyPr/>
                    <a:lstStyle/>
                    <a:p>
                      <a:pPr>
                        <a:buNone/>
                      </a:pPr>
                      <a:r>
                        <a:rPr lang="en-IN" sz="2000"/>
                        <a:t>42 / 67</a:t>
                      </a:r>
                    </a:p>
                  </a:txBody>
                  <a:tcPr anchor="ctr">
                    <a:lnL>
                      <a:noFill/>
                    </a:lnL>
                    <a:lnR>
                      <a:noFill/>
                    </a:lnR>
                    <a:lnT>
                      <a:noFill/>
                    </a:lnT>
                    <a:lnB>
                      <a:noFill/>
                    </a:lnB>
                    <a:noFill/>
                  </a:tcPr>
                </a:tc>
                <a:extLst>
                  <a:ext uri="{0D108BD9-81ED-4DB2-BD59-A6C34878D82A}">
                    <a16:rowId xmlns:a16="http://schemas.microsoft.com/office/drawing/2014/main" val="3690576288"/>
                  </a:ext>
                </a:extLst>
              </a:tr>
              <a:tr h="572635">
                <a:tc>
                  <a:txBody>
                    <a:bodyPr/>
                    <a:lstStyle/>
                    <a:p>
                      <a:pPr>
                        <a:buNone/>
                      </a:pPr>
                      <a:r>
                        <a:rPr lang="en-IN" sz="2000"/>
                        <a:t>Class Balancing</a:t>
                      </a:r>
                    </a:p>
                  </a:txBody>
                  <a:tcPr anchor="ctr">
                    <a:lnL>
                      <a:noFill/>
                    </a:lnL>
                    <a:lnR>
                      <a:noFill/>
                    </a:lnR>
                    <a:lnT>
                      <a:noFill/>
                    </a:lnT>
                    <a:lnB>
                      <a:noFill/>
                    </a:lnB>
                    <a:noFill/>
                  </a:tcPr>
                </a:tc>
                <a:tc>
                  <a:txBody>
                    <a:bodyPr/>
                    <a:lstStyle/>
                    <a:p>
                      <a:pPr>
                        <a:buNone/>
                      </a:pPr>
                      <a:r>
                        <a:rPr lang="en-IN" sz="2000"/>
                        <a:t>Balanced Dataset</a:t>
                      </a:r>
                    </a:p>
                  </a:txBody>
                  <a:tcPr anchor="ctr">
                    <a:lnL>
                      <a:noFill/>
                    </a:lnL>
                    <a:lnR>
                      <a:noFill/>
                    </a:lnR>
                    <a:lnT>
                      <a:noFill/>
                    </a:lnT>
                    <a:lnB>
                      <a:noFill/>
                    </a:lnB>
                    <a:noFill/>
                  </a:tcPr>
                </a:tc>
                <a:extLst>
                  <a:ext uri="{0D108BD9-81ED-4DB2-BD59-A6C34878D82A}">
                    <a16:rowId xmlns:a16="http://schemas.microsoft.com/office/drawing/2014/main" val="2287089436"/>
                  </a:ext>
                </a:extLst>
              </a:tr>
              <a:tr h="572635">
                <a:tc>
                  <a:txBody>
                    <a:bodyPr/>
                    <a:lstStyle/>
                    <a:p>
                      <a:pPr>
                        <a:buNone/>
                      </a:pPr>
                      <a:r>
                        <a:rPr lang="en-IN" sz="2000"/>
                        <a:t>Output Labels</a:t>
                      </a:r>
                    </a:p>
                  </a:txBody>
                  <a:tcPr anchor="ctr">
                    <a:lnL>
                      <a:noFill/>
                    </a:lnL>
                    <a:lnR>
                      <a:noFill/>
                    </a:lnR>
                    <a:lnT>
                      <a:noFill/>
                    </a:lnT>
                    <a:lnB>
                      <a:noFill/>
                    </a:lnB>
                    <a:noFill/>
                  </a:tcPr>
                </a:tc>
                <a:tc>
                  <a:txBody>
                    <a:bodyPr/>
                    <a:lstStyle/>
                    <a:p>
                      <a:pPr>
                        <a:buNone/>
                      </a:pPr>
                      <a:r>
                        <a:rPr lang="en-IN" sz="2000" dirty="0"/>
                        <a:t>6 Toxicity Categories</a:t>
                      </a:r>
                    </a:p>
                  </a:txBody>
                  <a:tcPr anchor="ctr">
                    <a:lnL>
                      <a:noFill/>
                    </a:lnL>
                    <a:lnR>
                      <a:noFill/>
                    </a:lnR>
                    <a:lnT>
                      <a:noFill/>
                    </a:lnT>
                    <a:lnB>
                      <a:noFill/>
                    </a:lnB>
                    <a:noFill/>
                  </a:tcPr>
                </a:tc>
                <a:extLst>
                  <a:ext uri="{0D108BD9-81ED-4DB2-BD59-A6C34878D82A}">
                    <a16:rowId xmlns:a16="http://schemas.microsoft.com/office/drawing/2014/main" val="3430204910"/>
                  </a:ext>
                </a:extLst>
              </a:tr>
            </a:tbl>
          </a:graphicData>
        </a:graphic>
      </p:graphicFrame>
    </p:spTree>
    <p:extLst>
      <p:ext uri="{BB962C8B-B14F-4D97-AF65-F5344CB8AC3E}">
        <p14:creationId xmlns:p14="http://schemas.microsoft.com/office/powerpoint/2010/main" val="3632519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467700-7795-9655-4215-AB7CBB91CD2C}"/>
              </a:ext>
            </a:extLst>
          </p:cNvPr>
          <p:cNvSpPr>
            <a:spLocks noGrp="1"/>
          </p:cNvSpPr>
          <p:nvPr>
            <p:ph idx="1"/>
          </p:nvPr>
        </p:nvSpPr>
        <p:spPr>
          <a:xfrm>
            <a:off x="103188" y="125413"/>
            <a:ext cx="10515600" cy="6732587"/>
          </a:xfrm>
        </p:spPr>
        <p:txBody>
          <a:bodyPr>
            <a:normAutofit/>
          </a:bodyPr>
          <a:lstStyle/>
          <a:p>
            <a:pPr>
              <a:buFont typeface="Wingdings" panose="05000000000000000000" pitchFamily="2" charset="2"/>
              <a:buChar char="Ø"/>
            </a:pPr>
            <a:r>
              <a:rPr lang="en-IN" sz="3200" b="1" dirty="0"/>
              <a:t>Training Output</a:t>
            </a:r>
          </a:p>
          <a:p>
            <a:r>
              <a:rPr lang="en-IN" sz="2200" dirty="0"/>
              <a:t>During training, the following information is generated:</a:t>
            </a:r>
          </a:p>
          <a:p>
            <a:pPr lvl="0"/>
            <a:r>
              <a:rPr lang="en-IN" sz="2200" dirty="0"/>
              <a:t>Trained Ensemble Model </a:t>
            </a:r>
          </a:p>
          <a:p>
            <a:pPr lvl="0"/>
            <a:r>
              <a:rPr lang="en-IN" sz="2200" dirty="0"/>
              <a:t>Training Time </a:t>
            </a:r>
          </a:p>
          <a:p>
            <a:pPr lvl="0"/>
            <a:r>
              <a:rPr lang="en-IN" sz="2200" dirty="0"/>
              <a:t>Multi-label Classification Model </a:t>
            </a:r>
          </a:p>
          <a:p>
            <a:pPr lvl="0"/>
            <a:r>
              <a:rPr lang="en-IN" sz="2200" dirty="0"/>
              <a:t>Probability-based Prediction Model </a:t>
            </a:r>
          </a:p>
          <a:p>
            <a:pPr lvl="0"/>
            <a:r>
              <a:rPr lang="en-IN" sz="2200" dirty="0"/>
              <a:t>Ready-to-use Model for Testing and Deployment </a:t>
            </a:r>
          </a:p>
          <a:p>
            <a:pPr marL="0" indent="0">
              <a:buNone/>
            </a:pPr>
            <a:endParaRPr lang="en-IN" dirty="0"/>
          </a:p>
          <a:p>
            <a:pPr>
              <a:buFont typeface="Wingdings" panose="05000000000000000000" pitchFamily="2" charset="2"/>
              <a:buChar char="Ø"/>
            </a:pPr>
            <a:r>
              <a:rPr lang="en-IN" sz="3200" b="1" dirty="0"/>
              <a:t>Benefits of the Training Process</a:t>
            </a:r>
          </a:p>
          <a:p>
            <a:pPr lvl="0"/>
            <a:r>
              <a:rPr lang="en-IN" sz="2000" dirty="0"/>
              <a:t>Learns toxicity patterns from gaming chat messages. </a:t>
            </a:r>
          </a:p>
          <a:p>
            <a:pPr lvl="0"/>
            <a:r>
              <a:rPr lang="en-IN" sz="2000" dirty="0"/>
              <a:t>Improves prediction accuracy by combining multiple classifiers. </a:t>
            </a:r>
          </a:p>
          <a:p>
            <a:pPr lvl="0"/>
            <a:r>
              <a:rPr lang="en-IN" sz="2000" dirty="0"/>
              <a:t>Supports simultaneous prediction of multiple toxicity labels. </a:t>
            </a:r>
          </a:p>
          <a:p>
            <a:pPr lvl="0"/>
            <a:r>
              <a:rPr lang="en-IN" sz="2000" dirty="0"/>
              <a:t>Produces probability scores for severity calculation. </a:t>
            </a:r>
          </a:p>
          <a:p>
            <a:pPr lvl="0"/>
            <a:r>
              <a:rPr lang="en-IN" sz="2000" dirty="0"/>
              <a:t>Creates a reusable model for real-time moderation.</a:t>
            </a:r>
          </a:p>
          <a:p>
            <a:endParaRPr lang="en-IN" dirty="0"/>
          </a:p>
        </p:txBody>
      </p:sp>
    </p:spTree>
    <p:extLst>
      <p:ext uri="{BB962C8B-B14F-4D97-AF65-F5344CB8AC3E}">
        <p14:creationId xmlns:p14="http://schemas.microsoft.com/office/powerpoint/2010/main" val="963861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9A32276-5F4A-EF68-35B9-8FF9D9C427E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79095" y="864704"/>
            <a:ext cx="5512905" cy="4731025"/>
          </a:xfrm>
          <a:prstGeom prst="rect">
            <a:avLst/>
          </a:prstGeom>
        </p:spPr>
      </p:pic>
      <p:sp>
        <p:nvSpPr>
          <p:cNvPr id="6" name="Content Placeholder 5">
            <a:extLst>
              <a:ext uri="{FF2B5EF4-FFF2-40B4-BE49-F238E27FC236}">
                <a16:creationId xmlns:a16="http://schemas.microsoft.com/office/drawing/2014/main" id="{30307394-F3F1-07BF-249C-100E9DA00FD9}"/>
              </a:ext>
            </a:extLst>
          </p:cNvPr>
          <p:cNvSpPr>
            <a:spLocks noGrp="1"/>
          </p:cNvSpPr>
          <p:nvPr>
            <p:ph sz="quarter" idx="4"/>
          </p:nvPr>
        </p:nvSpPr>
        <p:spPr>
          <a:xfrm>
            <a:off x="99390" y="119682"/>
            <a:ext cx="6579705" cy="6648865"/>
          </a:xfrm>
        </p:spPr>
        <p:txBody>
          <a:bodyPr/>
          <a:lstStyle/>
          <a:p>
            <a:r>
              <a:rPr lang="en-IN" sz="2000" dirty="0"/>
              <a:t>This graph presents the Training F1 Score for each toxicity category. The Ensemble Model achieved F1 Scores close to 1.0 across all six labels, indicating excellent learning of the training data. High F1 Scores demonstrate a strong balance between Precision and Recall. However, these results should be compared with testing performance to ensure that the model generalizes well and is not overfitting.</a:t>
            </a:r>
          </a:p>
          <a:p>
            <a:endParaRPr lang="en-IN" sz="1800" dirty="0"/>
          </a:p>
          <a:p>
            <a:pPr marL="0" indent="0">
              <a:buNone/>
            </a:pPr>
            <a:endParaRPr lang="en-IN" sz="1800" dirty="0"/>
          </a:p>
          <a:p>
            <a:endParaRPr lang="en-IN" sz="1800" dirty="0"/>
          </a:p>
        </p:txBody>
      </p:sp>
      <p:graphicFrame>
        <p:nvGraphicFramePr>
          <p:cNvPr id="9" name="Table 8">
            <a:extLst>
              <a:ext uri="{FF2B5EF4-FFF2-40B4-BE49-F238E27FC236}">
                <a16:creationId xmlns:a16="http://schemas.microsoft.com/office/drawing/2014/main" id="{663FFD00-5DD7-FC08-4575-EC558485CBBA}"/>
              </a:ext>
            </a:extLst>
          </p:cNvPr>
          <p:cNvGraphicFramePr>
            <a:graphicFrameLocks noGrp="1"/>
          </p:cNvGraphicFramePr>
          <p:nvPr>
            <p:extLst>
              <p:ext uri="{D42A27DB-BD31-4B8C-83A1-F6EECF244321}">
                <p14:modId xmlns:p14="http://schemas.microsoft.com/office/powerpoint/2010/main" val="2879700479"/>
              </p:ext>
            </p:extLst>
          </p:nvPr>
        </p:nvGraphicFramePr>
        <p:xfrm>
          <a:off x="99389" y="2641620"/>
          <a:ext cx="6579706" cy="3820962"/>
        </p:xfrm>
        <a:graphic>
          <a:graphicData uri="http://schemas.openxmlformats.org/drawingml/2006/table">
            <a:tbl>
              <a:tblPr/>
              <a:tblGrid>
                <a:gridCol w="3289853">
                  <a:extLst>
                    <a:ext uri="{9D8B030D-6E8A-4147-A177-3AD203B41FA5}">
                      <a16:colId xmlns:a16="http://schemas.microsoft.com/office/drawing/2014/main" val="3110486859"/>
                    </a:ext>
                  </a:extLst>
                </a:gridCol>
                <a:gridCol w="3289853">
                  <a:extLst>
                    <a:ext uri="{9D8B030D-6E8A-4147-A177-3AD203B41FA5}">
                      <a16:colId xmlns:a16="http://schemas.microsoft.com/office/drawing/2014/main" val="571999210"/>
                    </a:ext>
                  </a:extLst>
                </a:gridCol>
              </a:tblGrid>
              <a:tr h="519987">
                <a:tc>
                  <a:txBody>
                    <a:bodyPr/>
                    <a:lstStyle/>
                    <a:p>
                      <a:pPr>
                        <a:buNone/>
                      </a:pPr>
                      <a:r>
                        <a:rPr lang="en-IN" sz="2000" dirty="0"/>
                        <a:t>Label</a:t>
                      </a:r>
                    </a:p>
                  </a:txBody>
                  <a:tcPr anchor="ctr">
                    <a:lnL>
                      <a:noFill/>
                    </a:lnL>
                    <a:lnR>
                      <a:noFill/>
                    </a:lnR>
                    <a:lnT>
                      <a:noFill/>
                    </a:lnT>
                    <a:lnB>
                      <a:noFill/>
                    </a:lnB>
                    <a:noFill/>
                  </a:tcPr>
                </a:tc>
                <a:tc>
                  <a:txBody>
                    <a:bodyPr/>
                    <a:lstStyle/>
                    <a:p>
                      <a:pPr>
                        <a:buNone/>
                      </a:pPr>
                      <a:r>
                        <a:rPr lang="en-IN" sz="2000"/>
                        <a:t>Observation</a:t>
                      </a:r>
                    </a:p>
                  </a:txBody>
                  <a:tcPr anchor="ctr">
                    <a:lnL>
                      <a:noFill/>
                    </a:lnL>
                    <a:lnR>
                      <a:noFill/>
                    </a:lnR>
                    <a:lnT>
                      <a:noFill/>
                    </a:lnT>
                    <a:lnB>
                      <a:noFill/>
                    </a:lnB>
                    <a:noFill/>
                  </a:tcPr>
                </a:tc>
                <a:extLst>
                  <a:ext uri="{0D108BD9-81ED-4DB2-BD59-A6C34878D82A}">
                    <a16:rowId xmlns:a16="http://schemas.microsoft.com/office/drawing/2014/main" val="1693738267"/>
                  </a:ext>
                </a:extLst>
              </a:tr>
              <a:tr h="519987">
                <a:tc>
                  <a:txBody>
                    <a:bodyPr/>
                    <a:lstStyle/>
                    <a:p>
                      <a:pPr>
                        <a:buNone/>
                      </a:pPr>
                      <a:r>
                        <a:rPr lang="en-IN" sz="2000" dirty="0"/>
                        <a:t>Toxic</a:t>
                      </a:r>
                    </a:p>
                  </a:txBody>
                  <a:tcPr anchor="ctr">
                    <a:lnL>
                      <a:noFill/>
                    </a:lnL>
                    <a:lnR>
                      <a:noFill/>
                    </a:lnR>
                    <a:lnT>
                      <a:noFill/>
                    </a:lnT>
                    <a:lnB>
                      <a:noFill/>
                    </a:lnB>
                    <a:noFill/>
                  </a:tcPr>
                </a:tc>
                <a:tc>
                  <a:txBody>
                    <a:bodyPr/>
                    <a:lstStyle/>
                    <a:p>
                      <a:pPr>
                        <a:buNone/>
                      </a:pPr>
                      <a:r>
                        <a:rPr lang="en-IN" sz="2000" dirty="0"/>
                        <a:t>Very high F1 Score (≈0.99)</a:t>
                      </a:r>
                    </a:p>
                  </a:txBody>
                  <a:tcPr anchor="ctr">
                    <a:lnL>
                      <a:noFill/>
                    </a:lnL>
                    <a:lnR>
                      <a:noFill/>
                    </a:lnR>
                    <a:lnT>
                      <a:noFill/>
                    </a:lnT>
                    <a:lnB>
                      <a:noFill/>
                    </a:lnB>
                    <a:noFill/>
                  </a:tcPr>
                </a:tc>
                <a:extLst>
                  <a:ext uri="{0D108BD9-81ED-4DB2-BD59-A6C34878D82A}">
                    <a16:rowId xmlns:a16="http://schemas.microsoft.com/office/drawing/2014/main" val="2179215892"/>
                  </a:ext>
                </a:extLst>
              </a:tr>
              <a:tr h="519987">
                <a:tc>
                  <a:txBody>
                    <a:bodyPr/>
                    <a:lstStyle/>
                    <a:p>
                      <a:pPr>
                        <a:buNone/>
                      </a:pPr>
                      <a:r>
                        <a:rPr lang="en-IN" sz="2000"/>
                        <a:t>Severe Toxic</a:t>
                      </a:r>
                    </a:p>
                  </a:txBody>
                  <a:tcPr anchor="ctr">
                    <a:lnL>
                      <a:noFill/>
                    </a:lnL>
                    <a:lnR>
                      <a:noFill/>
                    </a:lnR>
                    <a:lnT>
                      <a:noFill/>
                    </a:lnT>
                    <a:lnB>
                      <a:noFill/>
                    </a:lnB>
                    <a:noFill/>
                  </a:tcPr>
                </a:tc>
                <a:tc>
                  <a:txBody>
                    <a:bodyPr/>
                    <a:lstStyle/>
                    <a:p>
                      <a:pPr>
                        <a:buNone/>
                      </a:pPr>
                      <a:r>
                        <a:rPr lang="en-IN" sz="2000"/>
                        <a:t>Very high F1 Score (≈0.99)</a:t>
                      </a:r>
                    </a:p>
                  </a:txBody>
                  <a:tcPr anchor="ctr">
                    <a:lnL>
                      <a:noFill/>
                    </a:lnL>
                    <a:lnR>
                      <a:noFill/>
                    </a:lnR>
                    <a:lnT>
                      <a:noFill/>
                    </a:lnT>
                    <a:lnB>
                      <a:noFill/>
                    </a:lnB>
                    <a:noFill/>
                  </a:tcPr>
                </a:tc>
                <a:extLst>
                  <a:ext uri="{0D108BD9-81ED-4DB2-BD59-A6C34878D82A}">
                    <a16:rowId xmlns:a16="http://schemas.microsoft.com/office/drawing/2014/main" val="2266206762"/>
                  </a:ext>
                </a:extLst>
              </a:tr>
              <a:tr h="519987">
                <a:tc>
                  <a:txBody>
                    <a:bodyPr/>
                    <a:lstStyle/>
                    <a:p>
                      <a:pPr>
                        <a:buNone/>
                      </a:pPr>
                      <a:r>
                        <a:rPr lang="en-IN" sz="2000"/>
                        <a:t>Obscene</a:t>
                      </a:r>
                    </a:p>
                  </a:txBody>
                  <a:tcPr anchor="ctr">
                    <a:lnL>
                      <a:noFill/>
                    </a:lnL>
                    <a:lnR>
                      <a:noFill/>
                    </a:lnR>
                    <a:lnT>
                      <a:noFill/>
                    </a:lnT>
                    <a:lnB>
                      <a:noFill/>
                    </a:lnB>
                    <a:noFill/>
                  </a:tcPr>
                </a:tc>
                <a:tc>
                  <a:txBody>
                    <a:bodyPr/>
                    <a:lstStyle/>
                    <a:p>
                      <a:pPr>
                        <a:buNone/>
                      </a:pPr>
                      <a:r>
                        <a:rPr lang="en-IN" sz="2000"/>
                        <a:t>Very high F1 Score (≈0.99)</a:t>
                      </a:r>
                    </a:p>
                  </a:txBody>
                  <a:tcPr anchor="ctr">
                    <a:lnL>
                      <a:noFill/>
                    </a:lnL>
                    <a:lnR>
                      <a:noFill/>
                    </a:lnR>
                    <a:lnT>
                      <a:noFill/>
                    </a:lnT>
                    <a:lnB>
                      <a:noFill/>
                    </a:lnB>
                    <a:noFill/>
                  </a:tcPr>
                </a:tc>
                <a:extLst>
                  <a:ext uri="{0D108BD9-81ED-4DB2-BD59-A6C34878D82A}">
                    <a16:rowId xmlns:a16="http://schemas.microsoft.com/office/drawing/2014/main" val="421483185"/>
                  </a:ext>
                </a:extLst>
              </a:tr>
              <a:tr h="519987">
                <a:tc>
                  <a:txBody>
                    <a:bodyPr/>
                    <a:lstStyle/>
                    <a:p>
                      <a:pPr>
                        <a:buNone/>
                      </a:pPr>
                      <a:r>
                        <a:rPr lang="en-IN" sz="2000" dirty="0"/>
                        <a:t>Threat</a:t>
                      </a:r>
                    </a:p>
                  </a:txBody>
                  <a:tcPr anchor="ctr">
                    <a:lnL>
                      <a:noFill/>
                    </a:lnL>
                    <a:lnR>
                      <a:noFill/>
                    </a:lnR>
                    <a:lnT>
                      <a:noFill/>
                    </a:lnT>
                    <a:lnB>
                      <a:noFill/>
                    </a:lnB>
                    <a:noFill/>
                  </a:tcPr>
                </a:tc>
                <a:tc>
                  <a:txBody>
                    <a:bodyPr/>
                    <a:lstStyle/>
                    <a:p>
                      <a:pPr>
                        <a:buNone/>
                      </a:pPr>
                      <a:r>
                        <a:rPr lang="en-IN" sz="2000"/>
                        <a:t>Nearly perfect F1 Score (≈1.00)</a:t>
                      </a:r>
                    </a:p>
                  </a:txBody>
                  <a:tcPr anchor="ctr">
                    <a:lnL>
                      <a:noFill/>
                    </a:lnL>
                    <a:lnR>
                      <a:noFill/>
                    </a:lnR>
                    <a:lnT>
                      <a:noFill/>
                    </a:lnT>
                    <a:lnB>
                      <a:noFill/>
                    </a:lnB>
                    <a:noFill/>
                  </a:tcPr>
                </a:tc>
                <a:extLst>
                  <a:ext uri="{0D108BD9-81ED-4DB2-BD59-A6C34878D82A}">
                    <a16:rowId xmlns:a16="http://schemas.microsoft.com/office/drawing/2014/main" val="1373380337"/>
                  </a:ext>
                </a:extLst>
              </a:tr>
              <a:tr h="519987">
                <a:tc>
                  <a:txBody>
                    <a:bodyPr/>
                    <a:lstStyle/>
                    <a:p>
                      <a:pPr>
                        <a:buNone/>
                      </a:pPr>
                      <a:r>
                        <a:rPr lang="en-IN" sz="2000"/>
                        <a:t>Insult</a:t>
                      </a:r>
                    </a:p>
                  </a:txBody>
                  <a:tcPr anchor="ctr">
                    <a:lnL>
                      <a:noFill/>
                    </a:lnL>
                    <a:lnR>
                      <a:noFill/>
                    </a:lnR>
                    <a:lnT>
                      <a:noFill/>
                    </a:lnT>
                    <a:lnB>
                      <a:noFill/>
                    </a:lnB>
                    <a:noFill/>
                  </a:tcPr>
                </a:tc>
                <a:tc>
                  <a:txBody>
                    <a:bodyPr/>
                    <a:lstStyle/>
                    <a:p>
                      <a:pPr>
                        <a:buNone/>
                      </a:pPr>
                      <a:r>
                        <a:rPr lang="en-IN" sz="2000"/>
                        <a:t>Very high F1 Score (≈0.99)</a:t>
                      </a:r>
                    </a:p>
                  </a:txBody>
                  <a:tcPr anchor="ctr">
                    <a:lnL>
                      <a:noFill/>
                    </a:lnL>
                    <a:lnR>
                      <a:noFill/>
                    </a:lnR>
                    <a:lnT>
                      <a:noFill/>
                    </a:lnT>
                    <a:lnB>
                      <a:noFill/>
                    </a:lnB>
                    <a:noFill/>
                  </a:tcPr>
                </a:tc>
                <a:extLst>
                  <a:ext uri="{0D108BD9-81ED-4DB2-BD59-A6C34878D82A}">
                    <a16:rowId xmlns:a16="http://schemas.microsoft.com/office/drawing/2014/main" val="4077755582"/>
                  </a:ext>
                </a:extLst>
              </a:tr>
              <a:tr h="519987">
                <a:tc>
                  <a:txBody>
                    <a:bodyPr/>
                    <a:lstStyle/>
                    <a:p>
                      <a:pPr>
                        <a:buNone/>
                      </a:pPr>
                      <a:r>
                        <a:rPr lang="en-IN" sz="2000"/>
                        <a:t>Identity Hate</a:t>
                      </a:r>
                    </a:p>
                  </a:txBody>
                  <a:tcPr anchor="ctr">
                    <a:lnL>
                      <a:noFill/>
                    </a:lnL>
                    <a:lnR>
                      <a:noFill/>
                    </a:lnR>
                    <a:lnT>
                      <a:noFill/>
                    </a:lnT>
                    <a:lnB>
                      <a:noFill/>
                    </a:lnB>
                    <a:noFill/>
                  </a:tcPr>
                </a:tc>
                <a:tc>
                  <a:txBody>
                    <a:bodyPr/>
                    <a:lstStyle/>
                    <a:p>
                      <a:pPr>
                        <a:buNone/>
                      </a:pPr>
                      <a:r>
                        <a:rPr lang="en-IN" sz="2000" dirty="0"/>
                        <a:t>Very high F1 Score (≈0.99)</a:t>
                      </a:r>
                    </a:p>
                  </a:txBody>
                  <a:tcPr anchor="ctr">
                    <a:lnL>
                      <a:noFill/>
                    </a:lnL>
                    <a:lnR>
                      <a:noFill/>
                    </a:lnR>
                    <a:lnT>
                      <a:noFill/>
                    </a:lnT>
                    <a:lnB>
                      <a:noFill/>
                    </a:lnB>
                    <a:noFill/>
                  </a:tcPr>
                </a:tc>
                <a:extLst>
                  <a:ext uri="{0D108BD9-81ED-4DB2-BD59-A6C34878D82A}">
                    <a16:rowId xmlns:a16="http://schemas.microsoft.com/office/drawing/2014/main" val="2114801511"/>
                  </a:ext>
                </a:extLst>
              </a:tr>
            </a:tbl>
          </a:graphicData>
        </a:graphic>
      </p:graphicFrame>
    </p:spTree>
    <p:extLst>
      <p:ext uri="{BB962C8B-B14F-4D97-AF65-F5344CB8AC3E}">
        <p14:creationId xmlns:p14="http://schemas.microsoft.com/office/powerpoint/2010/main" val="2234232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3B2E2-D7E3-4D8F-E718-60579D821555}"/>
              </a:ext>
            </a:extLst>
          </p:cNvPr>
          <p:cNvSpPr>
            <a:spLocks noGrp="1"/>
          </p:cNvSpPr>
          <p:nvPr>
            <p:ph type="title"/>
          </p:nvPr>
        </p:nvSpPr>
        <p:spPr>
          <a:xfrm>
            <a:off x="838200" y="496958"/>
            <a:ext cx="10515600" cy="834886"/>
          </a:xfrm>
        </p:spPr>
        <p:txBody>
          <a:bodyPr/>
          <a:lstStyle/>
          <a:p>
            <a:pPr algn="ctr"/>
            <a:r>
              <a:rPr lang="en-IN" b="1" dirty="0"/>
              <a:t>Model Evaluation</a:t>
            </a:r>
          </a:p>
        </p:txBody>
      </p:sp>
      <p:sp>
        <p:nvSpPr>
          <p:cNvPr id="3" name="Content Placeholder 2">
            <a:extLst>
              <a:ext uri="{FF2B5EF4-FFF2-40B4-BE49-F238E27FC236}">
                <a16:creationId xmlns:a16="http://schemas.microsoft.com/office/drawing/2014/main" id="{6CAB13CE-4D27-EC47-BBFF-F6DE14F0D549}"/>
              </a:ext>
            </a:extLst>
          </p:cNvPr>
          <p:cNvSpPr>
            <a:spLocks noGrp="1"/>
          </p:cNvSpPr>
          <p:nvPr>
            <p:ph idx="1"/>
          </p:nvPr>
        </p:nvSpPr>
        <p:spPr>
          <a:xfrm>
            <a:off x="838200" y="2156792"/>
            <a:ext cx="10515600" cy="2703443"/>
          </a:xfrm>
        </p:spPr>
        <p:txBody>
          <a:bodyPr/>
          <a:lstStyle/>
          <a:p>
            <a:r>
              <a:rPr lang="en-IN" sz="2000" dirty="0"/>
              <a:t>After training the Ensemble Machine Learning model, its performance was evaluated on the </a:t>
            </a:r>
            <a:r>
              <a:rPr lang="en-IN" sz="2000" b="1" dirty="0"/>
              <a:t>test dataset</a:t>
            </a:r>
            <a:r>
              <a:rPr lang="en-IN" sz="2000" dirty="0"/>
              <a:t> to measure its ability to correctly classify gaming chat messages into multiple toxicity categories. The evaluation assesses the model using standard machine learning metrics, including </a:t>
            </a:r>
            <a:r>
              <a:rPr lang="en-IN" sz="2000" b="1" dirty="0"/>
              <a:t>Accuracy, Precision, Recall, F1-Score, Confidence Level, and Inference Time</a:t>
            </a:r>
            <a:r>
              <a:rPr lang="en-IN" sz="2000" dirty="0"/>
              <a:t>.</a:t>
            </a:r>
          </a:p>
          <a:p>
            <a:r>
              <a:rPr lang="en-IN" sz="2000" dirty="0"/>
              <a:t>The evaluation demonstrates how effectively the model generalizes to unseen data and identifies toxic messages across all six toxicity categories.</a:t>
            </a:r>
          </a:p>
          <a:p>
            <a:pPr marL="0" indent="0">
              <a:buNone/>
            </a:pPr>
            <a:endParaRPr lang="en-IN" dirty="0"/>
          </a:p>
        </p:txBody>
      </p:sp>
    </p:spTree>
    <p:extLst>
      <p:ext uri="{BB962C8B-B14F-4D97-AF65-F5344CB8AC3E}">
        <p14:creationId xmlns:p14="http://schemas.microsoft.com/office/powerpoint/2010/main" val="608112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EAB8E-2214-E559-7270-7F2FF16E0B1B}"/>
              </a:ext>
            </a:extLst>
          </p:cNvPr>
          <p:cNvSpPr>
            <a:spLocks noGrp="1"/>
          </p:cNvSpPr>
          <p:nvPr>
            <p:ph type="title"/>
          </p:nvPr>
        </p:nvSpPr>
        <p:spPr>
          <a:xfrm>
            <a:off x="838200" y="1"/>
            <a:ext cx="10515600" cy="735495"/>
          </a:xfrm>
        </p:spPr>
        <p:txBody>
          <a:bodyPr/>
          <a:lstStyle/>
          <a:p>
            <a:pPr algn="ctr"/>
            <a:r>
              <a:rPr lang="en-IN" dirty="0"/>
              <a:t>Evaluation Workflow</a:t>
            </a:r>
          </a:p>
        </p:txBody>
      </p:sp>
      <p:sp>
        <p:nvSpPr>
          <p:cNvPr id="3" name="Content Placeholder 2">
            <a:extLst>
              <a:ext uri="{FF2B5EF4-FFF2-40B4-BE49-F238E27FC236}">
                <a16:creationId xmlns:a16="http://schemas.microsoft.com/office/drawing/2014/main" id="{A99D8D47-F917-D070-F5D5-B3373DEF0E98}"/>
              </a:ext>
            </a:extLst>
          </p:cNvPr>
          <p:cNvSpPr>
            <a:spLocks noGrp="1"/>
          </p:cNvSpPr>
          <p:nvPr>
            <p:ph idx="1"/>
          </p:nvPr>
        </p:nvSpPr>
        <p:spPr>
          <a:xfrm>
            <a:off x="3031434" y="735496"/>
            <a:ext cx="6400801" cy="6122503"/>
          </a:xfrm>
        </p:spPr>
        <p:txBody>
          <a:bodyPr>
            <a:normAutofit fontScale="70000" lnSpcReduction="20000"/>
          </a:bodyPr>
          <a:lstStyle/>
          <a:p>
            <a:pPr marL="0" indent="0" algn="ctr">
              <a:buNone/>
            </a:pPr>
            <a:r>
              <a:rPr lang="en-IN" b="1" dirty="0"/>
              <a:t>Trained Ensemble Model</a:t>
            </a:r>
          </a:p>
          <a:p>
            <a:pPr marL="0" indent="0" algn="ctr">
              <a:buNone/>
            </a:pPr>
            <a:r>
              <a:rPr lang="en-IN" b="1" dirty="0"/>
              <a:t>          │</a:t>
            </a:r>
          </a:p>
          <a:p>
            <a:pPr marL="0" indent="0" algn="ctr">
              <a:buNone/>
            </a:pPr>
            <a:r>
              <a:rPr lang="en-IN" b="1" dirty="0"/>
              <a:t>          ▼</a:t>
            </a:r>
          </a:p>
          <a:p>
            <a:pPr marL="0" indent="0" algn="ctr">
              <a:buNone/>
            </a:pPr>
            <a:r>
              <a:rPr lang="en-IN" b="1" dirty="0"/>
              <a:t>     Test Dataset</a:t>
            </a:r>
          </a:p>
          <a:p>
            <a:pPr marL="0" indent="0" algn="ctr">
              <a:buNone/>
            </a:pPr>
            <a:r>
              <a:rPr lang="en-IN" b="1" dirty="0"/>
              <a:t>          │</a:t>
            </a:r>
          </a:p>
          <a:p>
            <a:pPr marL="0" indent="0" algn="ctr">
              <a:buNone/>
            </a:pPr>
            <a:r>
              <a:rPr lang="en-IN" b="1" dirty="0"/>
              <a:t>          ▼</a:t>
            </a:r>
          </a:p>
          <a:p>
            <a:pPr marL="0" indent="0" algn="ctr">
              <a:buNone/>
            </a:pPr>
            <a:r>
              <a:rPr lang="en-IN" b="1" dirty="0"/>
              <a:t>TF-IDF Feature Extraction</a:t>
            </a:r>
          </a:p>
          <a:p>
            <a:pPr marL="0" indent="0" algn="ctr">
              <a:buNone/>
            </a:pPr>
            <a:r>
              <a:rPr lang="en-IN" b="1" dirty="0"/>
              <a:t>          │</a:t>
            </a:r>
          </a:p>
          <a:p>
            <a:pPr marL="0" indent="0" algn="ctr">
              <a:buNone/>
            </a:pPr>
            <a:r>
              <a:rPr lang="en-IN" b="1" dirty="0"/>
              <a:t>          ▼</a:t>
            </a:r>
          </a:p>
          <a:p>
            <a:pPr marL="0" indent="0" algn="ctr">
              <a:buNone/>
            </a:pPr>
            <a:r>
              <a:rPr lang="en-IN" b="1" dirty="0"/>
              <a:t>Model Prediction</a:t>
            </a:r>
          </a:p>
          <a:p>
            <a:pPr marL="0" indent="0" algn="ctr">
              <a:buNone/>
            </a:pPr>
            <a:r>
              <a:rPr lang="en-IN" b="1" dirty="0"/>
              <a:t>          │</a:t>
            </a:r>
          </a:p>
          <a:p>
            <a:pPr marL="0" indent="0" algn="ctr">
              <a:buNone/>
            </a:pPr>
            <a:r>
              <a:rPr lang="en-IN" b="1" dirty="0"/>
              <a:t>          ▼</a:t>
            </a:r>
          </a:p>
          <a:p>
            <a:pPr marL="0" indent="0" algn="ctr">
              <a:buNone/>
            </a:pPr>
            <a:r>
              <a:rPr lang="en-IN" b="1" dirty="0"/>
              <a:t>Performance Metrics</a:t>
            </a:r>
          </a:p>
          <a:p>
            <a:pPr marL="0" indent="0" algn="ctr">
              <a:buNone/>
            </a:pPr>
            <a:r>
              <a:rPr lang="en-IN" b="1" dirty="0"/>
              <a:t>          │</a:t>
            </a:r>
          </a:p>
          <a:p>
            <a:pPr marL="0" indent="0" algn="ctr">
              <a:buNone/>
            </a:pPr>
            <a:r>
              <a:rPr lang="en-IN" b="1" dirty="0"/>
              <a:t>          ▼</a:t>
            </a:r>
          </a:p>
          <a:p>
            <a:pPr marL="0" indent="0" algn="ctr">
              <a:buNone/>
            </a:pPr>
            <a:r>
              <a:rPr lang="en-IN" b="1" dirty="0"/>
              <a:t>Accuracy • Precision • Recall</a:t>
            </a:r>
          </a:p>
          <a:p>
            <a:pPr marL="0" indent="0" algn="ctr">
              <a:buNone/>
            </a:pPr>
            <a:r>
              <a:rPr lang="en-IN" b="1" dirty="0"/>
              <a:t>F1-Score • Confidence</a:t>
            </a:r>
          </a:p>
          <a:p>
            <a:pPr marL="0" indent="0" algn="ctr">
              <a:buNone/>
            </a:pPr>
            <a:r>
              <a:rPr lang="en-IN" b="1" dirty="0"/>
              <a:t>Inference Time</a:t>
            </a:r>
          </a:p>
        </p:txBody>
      </p:sp>
    </p:spTree>
    <p:extLst>
      <p:ext uri="{BB962C8B-B14F-4D97-AF65-F5344CB8AC3E}">
        <p14:creationId xmlns:p14="http://schemas.microsoft.com/office/powerpoint/2010/main" val="2747954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31F-45FB-C151-DD3D-A3866B5DF5E4}"/>
              </a:ext>
            </a:extLst>
          </p:cNvPr>
          <p:cNvSpPr>
            <a:spLocks noGrp="1"/>
          </p:cNvSpPr>
          <p:nvPr>
            <p:ph type="ctrTitle"/>
          </p:nvPr>
        </p:nvSpPr>
        <p:spPr>
          <a:xfrm>
            <a:off x="1524000" y="0"/>
            <a:ext cx="9144000" cy="695739"/>
          </a:xfrm>
        </p:spPr>
        <p:txBody>
          <a:bodyPr>
            <a:normAutofit/>
          </a:bodyPr>
          <a:lstStyle/>
          <a:p>
            <a:r>
              <a:rPr lang="en-IN" sz="4000" dirty="0"/>
              <a:t>Performance Metrics Generated</a:t>
            </a:r>
          </a:p>
        </p:txBody>
      </p:sp>
      <p:sp>
        <p:nvSpPr>
          <p:cNvPr id="3" name="Subtitle 2">
            <a:extLst>
              <a:ext uri="{FF2B5EF4-FFF2-40B4-BE49-F238E27FC236}">
                <a16:creationId xmlns:a16="http://schemas.microsoft.com/office/drawing/2014/main" id="{A0363CCC-D411-F3CA-6ADF-3519F0F06F96}"/>
              </a:ext>
            </a:extLst>
          </p:cNvPr>
          <p:cNvSpPr>
            <a:spLocks noGrp="1"/>
          </p:cNvSpPr>
          <p:nvPr>
            <p:ph type="subTitle" idx="1"/>
          </p:nvPr>
        </p:nvSpPr>
        <p:spPr>
          <a:xfrm>
            <a:off x="192157" y="566531"/>
            <a:ext cx="5903843" cy="6291469"/>
          </a:xfrm>
        </p:spPr>
        <p:txBody>
          <a:bodyPr>
            <a:normAutofit fontScale="55000" lnSpcReduction="20000"/>
          </a:bodyPr>
          <a:lstStyle/>
          <a:p>
            <a:pPr algn="l"/>
            <a:r>
              <a:rPr lang="en-IN" sz="3300" b="1" dirty="0"/>
              <a:t>The evaluation provides metrics for each toxicity category:</a:t>
            </a:r>
          </a:p>
          <a:p>
            <a:pPr marL="342900" lvl="0" indent="-342900" algn="l">
              <a:buFont typeface="Wingdings" panose="05000000000000000000" pitchFamily="2" charset="2"/>
              <a:buChar char="v"/>
            </a:pPr>
            <a:r>
              <a:rPr lang="en-IN" dirty="0"/>
              <a:t>Toxic </a:t>
            </a:r>
          </a:p>
          <a:p>
            <a:pPr marL="342900" lvl="0" indent="-342900" algn="l">
              <a:buFont typeface="Wingdings" panose="05000000000000000000" pitchFamily="2" charset="2"/>
              <a:buChar char="v"/>
            </a:pPr>
            <a:r>
              <a:rPr lang="en-IN" dirty="0"/>
              <a:t>Severe Toxic </a:t>
            </a:r>
          </a:p>
          <a:p>
            <a:pPr marL="342900" lvl="0" indent="-342900" algn="l">
              <a:buFont typeface="Wingdings" panose="05000000000000000000" pitchFamily="2" charset="2"/>
              <a:buChar char="v"/>
            </a:pPr>
            <a:r>
              <a:rPr lang="en-IN" dirty="0"/>
              <a:t>Obscene </a:t>
            </a:r>
          </a:p>
          <a:p>
            <a:pPr marL="342900" lvl="0" indent="-342900" algn="l">
              <a:buFont typeface="Wingdings" panose="05000000000000000000" pitchFamily="2" charset="2"/>
              <a:buChar char="v"/>
            </a:pPr>
            <a:r>
              <a:rPr lang="en-IN" dirty="0"/>
              <a:t>Threat </a:t>
            </a:r>
          </a:p>
          <a:p>
            <a:pPr marL="342900" lvl="0" indent="-342900" algn="l">
              <a:buFont typeface="Wingdings" panose="05000000000000000000" pitchFamily="2" charset="2"/>
              <a:buChar char="v"/>
            </a:pPr>
            <a:r>
              <a:rPr lang="en-IN" dirty="0"/>
              <a:t>Insult </a:t>
            </a:r>
          </a:p>
          <a:p>
            <a:pPr marL="342900" lvl="0" indent="-342900" algn="l">
              <a:buFont typeface="Wingdings" panose="05000000000000000000" pitchFamily="2" charset="2"/>
              <a:buChar char="v"/>
            </a:pPr>
            <a:r>
              <a:rPr lang="en-IN" dirty="0"/>
              <a:t>Identity Hate </a:t>
            </a:r>
          </a:p>
          <a:p>
            <a:pPr algn="l"/>
            <a:r>
              <a:rPr lang="en-IN" sz="3300" b="1" dirty="0"/>
              <a:t>For each label, the following metrics are calculated:</a:t>
            </a:r>
          </a:p>
          <a:p>
            <a:pPr marL="342900" lvl="0" indent="-342900" algn="l">
              <a:buFont typeface="Wingdings" panose="05000000000000000000" pitchFamily="2" charset="2"/>
              <a:buChar char="v"/>
            </a:pPr>
            <a:r>
              <a:rPr lang="en-IN" dirty="0"/>
              <a:t>Accuracy </a:t>
            </a:r>
          </a:p>
          <a:p>
            <a:pPr marL="342900" lvl="0" indent="-342900" algn="l">
              <a:buFont typeface="Wingdings" panose="05000000000000000000" pitchFamily="2" charset="2"/>
              <a:buChar char="v"/>
            </a:pPr>
            <a:r>
              <a:rPr lang="en-IN" dirty="0"/>
              <a:t>Precision </a:t>
            </a:r>
          </a:p>
          <a:p>
            <a:pPr marL="342900" lvl="0" indent="-342900" algn="l">
              <a:buFont typeface="Wingdings" panose="05000000000000000000" pitchFamily="2" charset="2"/>
              <a:buChar char="v"/>
            </a:pPr>
            <a:r>
              <a:rPr lang="en-IN" dirty="0"/>
              <a:t>Recall </a:t>
            </a:r>
          </a:p>
          <a:p>
            <a:pPr marL="342900" lvl="0" indent="-342900" algn="l">
              <a:buFont typeface="Wingdings" panose="05000000000000000000" pitchFamily="2" charset="2"/>
              <a:buChar char="v"/>
            </a:pPr>
            <a:r>
              <a:rPr lang="en-IN" dirty="0"/>
              <a:t>F1-Score </a:t>
            </a:r>
          </a:p>
          <a:p>
            <a:pPr marL="342900" lvl="0" indent="-342900" algn="l">
              <a:buFont typeface="Wingdings" panose="05000000000000000000" pitchFamily="2" charset="2"/>
              <a:buChar char="v"/>
            </a:pPr>
            <a:r>
              <a:rPr lang="en-IN" dirty="0"/>
              <a:t>Confidence Level </a:t>
            </a:r>
          </a:p>
          <a:p>
            <a:pPr algn="l"/>
            <a:r>
              <a:rPr lang="en-IN" sz="3300" b="1" dirty="0"/>
              <a:t>Additionally, overall performance is reported using:</a:t>
            </a:r>
          </a:p>
          <a:p>
            <a:pPr marL="342900" lvl="0" indent="-342900" algn="l">
              <a:buFont typeface="Wingdings" panose="05000000000000000000" pitchFamily="2" charset="2"/>
              <a:buChar char="v"/>
            </a:pPr>
            <a:r>
              <a:rPr lang="en-IN" dirty="0"/>
              <a:t>Macro Accuracy </a:t>
            </a:r>
          </a:p>
          <a:p>
            <a:pPr marL="342900" lvl="0" indent="-342900" algn="l">
              <a:buFont typeface="Wingdings" panose="05000000000000000000" pitchFamily="2" charset="2"/>
              <a:buChar char="v"/>
            </a:pPr>
            <a:r>
              <a:rPr lang="en-IN" dirty="0"/>
              <a:t>Macro Precision </a:t>
            </a:r>
          </a:p>
          <a:p>
            <a:pPr marL="342900" lvl="0" indent="-342900" algn="l">
              <a:buFont typeface="Wingdings" panose="05000000000000000000" pitchFamily="2" charset="2"/>
              <a:buChar char="v"/>
            </a:pPr>
            <a:r>
              <a:rPr lang="en-IN" dirty="0"/>
              <a:t>Macro Recall </a:t>
            </a:r>
          </a:p>
          <a:p>
            <a:pPr marL="342900" lvl="0" indent="-342900" algn="l">
              <a:buFont typeface="Wingdings" panose="05000000000000000000" pitchFamily="2" charset="2"/>
              <a:buChar char="v"/>
            </a:pPr>
            <a:r>
              <a:rPr lang="en-IN" dirty="0"/>
              <a:t>Macro F1-Score </a:t>
            </a:r>
          </a:p>
          <a:p>
            <a:pPr marL="342900" lvl="0" indent="-342900" algn="l">
              <a:buFont typeface="Wingdings" panose="05000000000000000000" pitchFamily="2" charset="2"/>
              <a:buChar char="v"/>
            </a:pPr>
            <a:r>
              <a:rPr lang="en-IN" dirty="0"/>
              <a:t>Overall Confidence </a:t>
            </a:r>
          </a:p>
          <a:p>
            <a:pPr marL="342900" lvl="0" indent="-342900" algn="l">
              <a:buFont typeface="Wingdings" panose="05000000000000000000" pitchFamily="2" charset="2"/>
              <a:buChar char="v"/>
            </a:pPr>
            <a:r>
              <a:rPr lang="en-IN" dirty="0"/>
              <a:t>Total Inference Time </a:t>
            </a:r>
          </a:p>
          <a:p>
            <a:pPr marL="342900" lvl="0" indent="-342900" algn="l">
              <a:buFont typeface="Wingdings" panose="05000000000000000000" pitchFamily="2" charset="2"/>
              <a:buChar char="v"/>
            </a:pPr>
            <a:r>
              <a:rPr lang="en-IN" dirty="0"/>
              <a:t>Average Time per Sample</a:t>
            </a:r>
          </a:p>
          <a:p>
            <a:pPr algn="l"/>
            <a:endParaRPr lang="en-IN" dirty="0"/>
          </a:p>
        </p:txBody>
      </p:sp>
    </p:spTree>
    <p:extLst>
      <p:ext uri="{BB962C8B-B14F-4D97-AF65-F5344CB8AC3E}">
        <p14:creationId xmlns:p14="http://schemas.microsoft.com/office/powerpoint/2010/main" val="3951704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7E4EB21-71BA-E4A7-BF00-5A8320212F63}"/>
              </a:ext>
            </a:extLst>
          </p:cNvPr>
          <p:cNvSpPr>
            <a:spLocks noGrp="1"/>
          </p:cNvSpPr>
          <p:nvPr>
            <p:ph sz="half" idx="2"/>
          </p:nvPr>
        </p:nvSpPr>
        <p:spPr>
          <a:xfrm>
            <a:off x="372649" y="1005232"/>
            <a:ext cx="5157787" cy="3417681"/>
          </a:xfrm>
        </p:spPr>
        <p:txBody>
          <a:bodyPr>
            <a:normAutofit/>
          </a:bodyPr>
          <a:lstStyle/>
          <a:p>
            <a:pPr lvl="0"/>
            <a:r>
              <a:rPr lang="en-IN" sz="2000" dirty="0"/>
              <a:t>Measures the effectiveness of the ensemble model. </a:t>
            </a:r>
          </a:p>
          <a:p>
            <a:pPr lvl="0"/>
            <a:r>
              <a:rPr lang="en-IN" sz="2000" dirty="0"/>
              <a:t>Evaluates performance for each toxicity category individually. </a:t>
            </a:r>
          </a:p>
          <a:p>
            <a:pPr lvl="0"/>
            <a:r>
              <a:rPr lang="en-IN" sz="2000" dirty="0"/>
              <a:t>Confirms the model's ability to generalize to unseen gaming chat messages. </a:t>
            </a:r>
          </a:p>
          <a:p>
            <a:pPr lvl="0"/>
            <a:r>
              <a:rPr lang="en-IN" sz="2000" dirty="0"/>
              <a:t>Ensures the model is suitable for real-time moderation systems. </a:t>
            </a:r>
          </a:p>
          <a:p>
            <a:pPr lvl="0"/>
            <a:r>
              <a:rPr lang="en-IN" sz="2000" dirty="0"/>
              <a:t>Provides quantitative evidence of model performance.</a:t>
            </a:r>
          </a:p>
          <a:p>
            <a:endParaRPr lang="en-IN" dirty="0"/>
          </a:p>
        </p:txBody>
      </p:sp>
      <p:sp>
        <p:nvSpPr>
          <p:cNvPr id="5" name="Text Placeholder 4">
            <a:extLst>
              <a:ext uri="{FF2B5EF4-FFF2-40B4-BE49-F238E27FC236}">
                <a16:creationId xmlns:a16="http://schemas.microsoft.com/office/drawing/2014/main" id="{5E950F72-D252-3DD2-AEF9-07CC1E39F902}"/>
              </a:ext>
            </a:extLst>
          </p:cNvPr>
          <p:cNvSpPr>
            <a:spLocks noGrp="1"/>
          </p:cNvSpPr>
          <p:nvPr>
            <p:ph type="body" sz="quarter" idx="3"/>
          </p:nvPr>
        </p:nvSpPr>
        <p:spPr>
          <a:xfrm>
            <a:off x="6096000" y="90902"/>
            <a:ext cx="5183188" cy="465689"/>
          </a:xfrm>
        </p:spPr>
        <p:txBody>
          <a:bodyPr>
            <a:noAutofit/>
          </a:bodyPr>
          <a:lstStyle/>
          <a:p>
            <a:pPr algn="ctr"/>
            <a:r>
              <a:rPr lang="en-IN" sz="3200" dirty="0"/>
              <a:t>Evaluation Pipeline</a:t>
            </a:r>
          </a:p>
        </p:txBody>
      </p:sp>
      <p:sp>
        <p:nvSpPr>
          <p:cNvPr id="6" name="Content Placeholder 5">
            <a:extLst>
              <a:ext uri="{FF2B5EF4-FFF2-40B4-BE49-F238E27FC236}">
                <a16:creationId xmlns:a16="http://schemas.microsoft.com/office/drawing/2014/main" id="{C020D56C-ECE5-44F4-5271-AC32AB7D2D1D}"/>
              </a:ext>
            </a:extLst>
          </p:cNvPr>
          <p:cNvSpPr>
            <a:spLocks noGrp="1"/>
          </p:cNvSpPr>
          <p:nvPr>
            <p:ph sz="quarter" idx="4"/>
          </p:nvPr>
        </p:nvSpPr>
        <p:spPr>
          <a:xfrm>
            <a:off x="5530435" y="539128"/>
            <a:ext cx="6456156" cy="6269176"/>
          </a:xfrm>
        </p:spPr>
        <p:txBody>
          <a:bodyPr>
            <a:noAutofit/>
          </a:bodyPr>
          <a:lstStyle/>
          <a:p>
            <a:pPr marL="0" indent="0" algn="ctr">
              <a:buNone/>
            </a:pPr>
            <a:r>
              <a:rPr lang="en-IN" sz="1400" b="1" dirty="0"/>
              <a:t>Test Dataset</a:t>
            </a:r>
          </a:p>
          <a:p>
            <a:pPr marL="0" indent="0" algn="ctr">
              <a:buNone/>
            </a:pPr>
            <a:r>
              <a:rPr lang="en-IN" sz="1400" b="1" dirty="0"/>
              <a:t>      │</a:t>
            </a:r>
          </a:p>
          <a:p>
            <a:pPr marL="0" indent="0" algn="ctr">
              <a:buNone/>
            </a:pPr>
            <a:r>
              <a:rPr lang="en-IN" sz="1400" b="1" dirty="0"/>
              <a:t>      ▼</a:t>
            </a:r>
          </a:p>
          <a:p>
            <a:pPr marL="0" indent="0" algn="ctr">
              <a:buNone/>
            </a:pPr>
            <a:r>
              <a:rPr lang="en-IN" sz="1400" b="1" dirty="0"/>
              <a:t>TF-IDF Transformation</a:t>
            </a:r>
          </a:p>
          <a:p>
            <a:pPr marL="0" indent="0" algn="ctr">
              <a:buNone/>
            </a:pPr>
            <a:r>
              <a:rPr lang="en-IN" sz="1400" b="1" dirty="0"/>
              <a:t>      │</a:t>
            </a:r>
          </a:p>
          <a:p>
            <a:pPr marL="0" indent="0" algn="ctr">
              <a:buNone/>
            </a:pPr>
            <a:r>
              <a:rPr lang="en-IN" sz="1400" b="1" dirty="0"/>
              <a:t>      ▼</a:t>
            </a:r>
          </a:p>
          <a:p>
            <a:pPr marL="0" indent="0" algn="ctr">
              <a:buNone/>
            </a:pPr>
            <a:r>
              <a:rPr lang="en-IN" sz="1400" b="1" dirty="0"/>
              <a:t>Ensemble Model Prediction</a:t>
            </a:r>
          </a:p>
          <a:p>
            <a:pPr marL="0" indent="0" algn="ctr">
              <a:buNone/>
            </a:pPr>
            <a:r>
              <a:rPr lang="en-IN" sz="1400" b="1" dirty="0"/>
              <a:t>      │</a:t>
            </a:r>
          </a:p>
          <a:p>
            <a:pPr marL="0" indent="0" algn="ctr">
              <a:buNone/>
            </a:pPr>
            <a:r>
              <a:rPr lang="en-IN" sz="1400" b="1" dirty="0"/>
              <a:t>      ▼</a:t>
            </a:r>
          </a:p>
          <a:p>
            <a:pPr marL="0" indent="0" algn="ctr">
              <a:buNone/>
            </a:pPr>
            <a:r>
              <a:rPr lang="en-IN" sz="1400" b="1" dirty="0"/>
              <a:t>Probability Scores</a:t>
            </a:r>
          </a:p>
          <a:p>
            <a:pPr marL="0" indent="0" algn="ctr">
              <a:buNone/>
            </a:pPr>
            <a:r>
              <a:rPr lang="en-IN" sz="1400" b="1" dirty="0"/>
              <a:t>      │</a:t>
            </a:r>
          </a:p>
          <a:p>
            <a:pPr marL="0" indent="0" algn="ctr">
              <a:buNone/>
            </a:pPr>
            <a:r>
              <a:rPr lang="en-IN" sz="1400" b="1" dirty="0"/>
              <a:t>      ▼</a:t>
            </a:r>
          </a:p>
          <a:p>
            <a:pPr marL="0" indent="0" algn="ctr">
              <a:buNone/>
            </a:pPr>
            <a:r>
              <a:rPr lang="en-IN" sz="1400" b="1" dirty="0"/>
              <a:t>Metric Calculation</a:t>
            </a:r>
          </a:p>
          <a:p>
            <a:pPr marL="0" indent="0" algn="ctr">
              <a:buNone/>
            </a:pPr>
            <a:r>
              <a:rPr lang="en-IN" sz="1400" b="1" dirty="0"/>
              <a:t>      │</a:t>
            </a:r>
          </a:p>
          <a:p>
            <a:pPr marL="0" indent="0" algn="ctr">
              <a:buNone/>
            </a:pPr>
            <a:r>
              <a:rPr lang="en-IN" sz="1400" b="1" dirty="0"/>
              <a:t>      ▼</a:t>
            </a:r>
          </a:p>
          <a:p>
            <a:pPr marL="0" indent="0" algn="ctr">
              <a:buNone/>
            </a:pPr>
            <a:r>
              <a:rPr lang="en-IN" sz="1400" b="1" dirty="0"/>
              <a:t>Accuracy • Precision • Recall</a:t>
            </a:r>
          </a:p>
          <a:p>
            <a:pPr marL="0" indent="0" algn="ctr">
              <a:buNone/>
            </a:pPr>
            <a:r>
              <a:rPr lang="en-IN" sz="1400" b="1" dirty="0"/>
              <a:t>F1-Score • Confidence</a:t>
            </a:r>
          </a:p>
          <a:p>
            <a:pPr marL="0" indent="0" algn="ctr">
              <a:buNone/>
            </a:pPr>
            <a:r>
              <a:rPr lang="en-IN" sz="1400" b="1" dirty="0"/>
              <a:t>      │</a:t>
            </a:r>
          </a:p>
          <a:p>
            <a:pPr marL="0" indent="0" algn="ctr">
              <a:buNone/>
            </a:pPr>
            <a:r>
              <a:rPr lang="en-IN" sz="1400" b="1" dirty="0"/>
              <a:t>      ▼</a:t>
            </a:r>
          </a:p>
          <a:p>
            <a:pPr marL="0" indent="0" algn="ctr">
              <a:buNone/>
            </a:pPr>
            <a:r>
              <a:rPr lang="en-IN" sz="1400" b="1" dirty="0"/>
              <a:t>Evaluation Report</a:t>
            </a:r>
          </a:p>
        </p:txBody>
      </p:sp>
      <p:sp>
        <p:nvSpPr>
          <p:cNvPr id="9" name="Title 7">
            <a:extLst>
              <a:ext uri="{FF2B5EF4-FFF2-40B4-BE49-F238E27FC236}">
                <a16:creationId xmlns:a16="http://schemas.microsoft.com/office/drawing/2014/main" id="{B486319A-AED0-56FB-E317-A9D345B4AB89}"/>
              </a:ext>
            </a:extLst>
          </p:cNvPr>
          <p:cNvSpPr>
            <a:spLocks noGrp="1"/>
          </p:cNvSpPr>
          <p:nvPr>
            <p:ph type="body" idx="1"/>
          </p:nvPr>
        </p:nvSpPr>
        <p:spPr>
          <a:xfrm>
            <a:off x="372648" y="90903"/>
            <a:ext cx="5157787" cy="914330"/>
          </a:xfrm>
        </p:spPr>
        <p:txBody>
          <a:bodyPr>
            <a:noAutofit/>
          </a:bodyPr>
          <a:lstStyle/>
          <a:p>
            <a:pPr algn="ctr"/>
            <a:r>
              <a:rPr lang="en-IN" sz="3200" dirty="0"/>
              <a:t>Advantages of the Evaluation</a:t>
            </a:r>
          </a:p>
        </p:txBody>
      </p:sp>
    </p:spTree>
    <p:extLst>
      <p:ext uri="{BB962C8B-B14F-4D97-AF65-F5344CB8AC3E}">
        <p14:creationId xmlns:p14="http://schemas.microsoft.com/office/powerpoint/2010/main" val="548063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FC4B8B1-37E3-4D8A-269B-E857EFE9D1C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11957" y="306167"/>
            <a:ext cx="5980043" cy="5408833"/>
          </a:xfrm>
          <a:prstGeom prst="rect">
            <a:avLst/>
          </a:prstGeom>
        </p:spPr>
      </p:pic>
      <p:sp>
        <p:nvSpPr>
          <p:cNvPr id="11" name="Content Placeholder 5">
            <a:extLst>
              <a:ext uri="{FF2B5EF4-FFF2-40B4-BE49-F238E27FC236}">
                <a16:creationId xmlns:a16="http://schemas.microsoft.com/office/drawing/2014/main" id="{67BC75A2-658D-53ED-1BE0-1CB250C0930E}"/>
              </a:ext>
            </a:extLst>
          </p:cNvPr>
          <p:cNvSpPr>
            <a:spLocks noGrp="1"/>
          </p:cNvSpPr>
          <p:nvPr>
            <p:ph sz="quarter" idx="4"/>
          </p:nvPr>
        </p:nvSpPr>
        <p:spPr>
          <a:xfrm>
            <a:off x="0" y="0"/>
            <a:ext cx="5980042" cy="6858000"/>
          </a:xfrm>
        </p:spPr>
        <p:txBody>
          <a:bodyPr>
            <a:normAutofit fontScale="92500"/>
          </a:bodyPr>
          <a:lstStyle/>
          <a:p>
            <a:r>
              <a:rPr lang="en-IN" sz="1900" dirty="0"/>
              <a:t>This graph illustrates the Testing F1 Score achieved by the Ensemble Model for each toxicity category. All labels obtained F1 Scores close to 1.0, demonstrating excellent classification performance on unseen test data. The consistently high scores indicate that the model effectively balances Precision and Recall while maintaining strong generalization ability. These results confirm that the model is reliable for detecting multiple types of toxic behaviour in gaming chat messages.</a:t>
            </a:r>
          </a:p>
          <a:p>
            <a:r>
              <a:rPr lang="en-IN" sz="2600" b="1" dirty="0"/>
              <a:t>Overall Analysis</a:t>
            </a:r>
          </a:p>
          <a:p>
            <a:pPr lvl="0">
              <a:buFont typeface="Wingdings" panose="05000000000000000000" pitchFamily="2" charset="2"/>
              <a:buChar char="Ø"/>
            </a:pPr>
            <a:r>
              <a:rPr lang="en-IN" sz="1800" dirty="0"/>
              <a:t>All toxicity categories have </a:t>
            </a:r>
            <a:r>
              <a:rPr lang="en-IN" sz="1800" b="1" dirty="0"/>
              <a:t>F1 Scores close to 1.0</a:t>
            </a:r>
            <a:r>
              <a:rPr lang="en-IN" sz="1800" dirty="0"/>
              <a:t>. </a:t>
            </a:r>
          </a:p>
          <a:p>
            <a:pPr lvl="0">
              <a:buFont typeface="Wingdings" panose="05000000000000000000" pitchFamily="2" charset="2"/>
              <a:buChar char="Ø"/>
            </a:pPr>
            <a:r>
              <a:rPr lang="en-IN" sz="1800" dirty="0"/>
              <a:t>This indicates that the model generalizes well to unseen data. </a:t>
            </a:r>
          </a:p>
          <a:p>
            <a:pPr lvl="0">
              <a:buFont typeface="Wingdings" panose="05000000000000000000" pitchFamily="2" charset="2"/>
              <a:buChar char="Ø"/>
            </a:pPr>
            <a:r>
              <a:rPr lang="en-IN" sz="1800" dirty="0"/>
              <a:t>The small difference between the </a:t>
            </a:r>
            <a:r>
              <a:rPr lang="en-IN" sz="1800" b="1" dirty="0"/>
              <a:t>training</a:t>
            </a:r>
            <a:r>
              <a:rPr lang="en-IN" sz="1800" dirty="0"/>
              <a:t> and </a:t>
            </a:r>
            <a:r>
              <a:rPr lang="en-IN" sz="1800" b="1" dirty="0"/>
              <a:t>testing</a:t>
            </a:r>
            <a:r>
              <a:rPr lang="en-IN" sz="1800" dirty="0"/>
              <a:t> F1 Scores suggests that the model is </a:t>
            </a:r>
            <a:r>
              <a:rPr lang="en-IN" sz="1800" b="1" dirty="0"/>
              <a:t>not significantly overfitting</a:t>
            </a:r>
            <a:r>
              <a:rPr lang="en-IN" sz="1800" dirty="0"/>
              <a:t> and maintains consistent performance. </a:t>
            </a:r>
          </a:p>
          <a:p>
            <a:r>
              <a:rPr lang="en-IN" sz="2600" b="1" dirty="0"/>
              <a:t>Key Observations</a:t>
            </a:r>
          </a:p>
          <a:p>
            <a:pPr lvl="0">
              <a:buFont typeface="Wingdings" panose="05000000000000000000" pitchFamily="2" charset="2"/>
              <a:buChar char="v"/>
            </a:pPr>
            <a:r>
              <a:rPr lang="en-IN" sz="1800" dirty="0"/>
              <a:t>High Precision and Recall across all toxicity labels. </a:t>
            </a:r>
          </a:p>
          <a:p>
            <a:pPr lvl="0">
              <a:buFont typeface="Wingdings" panose="05000000000000000000" pitchFamily="2" charset="2"/>
              <a:buChar char="v"/>
            </a:pPr>
            <a:r>
              <a:rPr lang="en-IN" sz="1800" dirty="0"/>
              <a:t>Consistent performance on unseen test data. </a:t>
            </a:r>
          </a:p>
          <a:p>
            <a:pPr lvl="0">
              <a:buFont typeface="Wingdings" panose="05000000000000000000" pitchFamily="2" charset="2"/>
              <a:buChar char="v"/>
            </a:pPr>
            <a:r>
              <a:rPr lang="en-IN" sz="1800" dirty="0"/>
              <a:t>Reliable multi-label toxicity classification. </a:t>
            </a:r>
          </a:p>
          <a:p>
            <a:pPr lvl="0">
              <a:buFont typeface="Wingdings" panose="05000000000000000000" pitchFamily="2" charset="2"/>
              <a:buChar char="v"/>
            </a:pPr>
            <a:r>
              <a:rPr lang="en-IN" sz="1800" dirty="0"/>
              <a:t>Strong capability to detect different types of toxic behaviour. </a:t>
            </a:r>
          </a:p>
          <a:p>
            <a:pPr lvl="0">
              <a:buFont typeface="Wingdings" panose="05000000000000000000" pitchFamily="2" charset="2"/>
              <a:buChar char="v"/>
            </a:pPr>
            <a:r>
              <a:rPr lang="en-IN" sz="1800" dirty="0"/>
              <a:t>Suitable for real-time gaming chat moderation.</a:t>
            </a:r>
          </a:p>
          <a:p>
            <a:endParaRPr lang="en-IN" sz="1800" dirty="0"/>
          </a:p>
        </p:txBody>
      </p:sp>
    </p:spTree>
    <p:extLst>
      <p:ext uri="{BB962C8B-B14F-4D97-AF65-F5344CB8AC3E}">
        <p14:creationId xmlns:p14="http://schemas.microsoft.com/office/powerpoint/2010/main" val="95312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4BA6D-2B6C-647C-A51A-2F8F9F0A6891}"/>
              </a:ext>
            </a:extLst>
          </p:cNvPr>
          <p:cNvSpPr>
            <a:spLocks noGrp="1"/>
          </p:cNvSpPr>
          <p:nvPr>
            <p:ph type="title"/>
          </p:nvPr>
        </p:nvSpPr>
        <p:spPr>
          <a:xfrm>
            <a:off x="838200" y="487017"/>
            <a:ext cx="10515600" cy="854765"/>
          </a:xfrm>
        </p:spPr>
        <p:txBody>
          <a:bodyPr>
            <a:normAutofit/>
          </a:bodyPr>
          <a:lstStyle/>
          <a:p>
            <a:pPr algn="ctr"/>
            <a:r>
              <a:rPr lang="en-IN" sz="3200" b="1" dirty="0" err="1"/>
              <a:t>Gradio</a:t>
            </a:r>
            <a:r>
              <a:rPr lang="en-IN" sz="3200" b="1" dirty="0"/>
              <a:t> Application</a:t>
            </a:r>
          </a:p>
        </p:txBody>
      </p:sp>
      <p:sp>
        <p:nvSpPr>
          <p:cNvPr id="3" name="Content Placeholder 2">
            <a:extLst>
              <a:ext uri="{FF2B5EF4-FFF2-40B4-BE49-F238E27FC236}">
                <a16:creationId xmlns:a16="http://schemas.microsoft.com/office/drawing/2014/main" id="{830742C1-1165-05EE-F264-94E4F216AF8B}"/>
              </a:ext>
            </a:extLst>
          </p:cNvPr>
          <p:cNvSpPr>
            <a:spLocks noGrp="1"/>
          </p:cNvSpPr>
          <p:nvPr>
            <p:ph idx="1"/>
          </p:nvPr>
        </p:nvSpPr>
        <p:spPr>
          <a:xfrm>
            <a:off x="838200" y="1646720"/>
            <a:ext cx="10515600" cy="3084306"/>
          </a:xfrm>
        </p:spPr>
        <p:txBody>
          <a:bodyPr>
            <a:normAutofit/>
          </a:bodyPr>
          <a:lstStyle/>
          <a:p>
            <a:r>
              <a:rPr lang="en-IN" b="1" dirty="0" err="1"/>
              <a:t>Gradio</a:t>
            </a:r>
            <a:r>
              <a:rPr lang="en-IN" b="1" dirty="0"/>
              <a:t>-Based User Interface</a:t>
            </a:r>
          </a:p>
          <a:p>
            <a:r>
              <a:rPr lang="en-IN" sz="2000" dirty="0"/>
              <a:t>To make the Gaming Chat Toxicity Classification System interactive and user-friendly, a </a:t>
            </a:r>
            <a:r>
              <a:rPr lang="en-IN" sz="2000" b="1" dirty="0" err="1"/>
              <a:t>Gradio</a:t>
            </a:r>
            <a:r>
              <a:rPr lang="en-IN" sz="2000" b="1" dirty="0"/>
              <a:t> web application</a:t>
            </a:r>
            <a:r>
              <a:rPr lang="en-IN" sz="2000" dirty="0"/>
              <a:t> was developed. The application provides a simple interface where users can enter gaming chat messages and receive instant toxicity predictions along with the detected labels, severity score, and recommended moderation action.</a:t>
            </a:r>
          </a:p>
          <a:p>
            <a:r>
              <a:rPr lang="en-IN" sz="2000" dirty="0"/>
              <a:t>The </a:t>
            </a:r>
            <a:r>
              <a:rPr lang="en-IN" sz="2000" dirty="0" err="1"/>
              <a:t>Gradio</a:t>
            </a:r>
            <a:r>
              <a:rPr lang="en-IN" sz="2000" dirty="0"/>
              <a:t> interface demonstrates the practical deployment of the trained Ensemble Machine Learning model, enabling real-time toxicity detection without requiring users to interact directly.</a:t>
            </a:r>
          </a:p>
          <a:p>
            <a:endParaRPr lang="en-IN" dirty="0"/>
          </a:p>
        </p:txBody>
      </p:sp>
    </p:spTree>
    <p:extLst>
      <p:ext uri="{BB962C8B-B14F-4D97-AF65-F5344CB8AC3E}">
        <p14:creationId xmlns:p14="http://schemas.microsoft.com/office/powerpoint/2010/main" val="2249318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B2C46-E716-4084-EA95-F7D8AB83F33B}"/>
              </a:ext>
            </a:extLst>
          </p:cNvPr>
          <p:cNvSpPr>
            <a:spLocks noGrp="1"/>
          </p:cNvSpPr>
          <p:nvPr>
            <p:ph type="title"/>
          </p:nvPr>
        </p:nvSpPr>
        <p:spPr>
          <a:xfrm>
            <a:off x="838200" y="1"/>
            <a:ext cx="10515600" cy="546651"/>
          </a:xfrm>
        </p:spPr>
        <p:txBody>
          <a:bodyPr>
            <a:normAutofit/>
          </a:bodyPr>
          <a:lstStyle/>
          <a:p>
            <a:pPr algn="ctr"/>
            <a:r>
              <a:rPr lang="en-IN" sz="3200" b="1" dirty="0" err="1"/>
              <a:t>Gradio</a:t>
            </a:r>
            <a:r>
              <a:rPr lang="en-IN" sz="3200" b="1" dirty="0"/>
              <a:t> Application Workflow</a:t>
            </a:r>
          </a:p>
        </p:txBody>
      </p:sp>
      <p:sp>
        <p:nvSpPr>
          <p:cNvPr id="3" name="Content Placeholder 2">
            <a:extLst>
              <a:ext uri="{FF2B5EF4-FFF2-40B4-BE49-F238E27FC236}">
                <a16:creationId xmlns:a16="http://schemas.microsoft.com/office/drawing/2014/main" id="{96500DEA-71F0-F8EE-9D7D-FF88D5506CEB}"/>
              </a:ext>
            </a:extLst>
          </p:cNvPr>
          <p:cNvSpPr>
            <a:spLocks noGrp="1"/>
          </p:cNvSpPr>
          <p:nvPr>
            <p:ph idx="1"/>
          </p:nvPr>
        </p:nvSpPr>
        <p:spPr>
          <a:xfrm>
            <a:off x="3800060" y="546652"/>
            <a:ext cx="4591879" cy="6311348"/>
          </a:xfrm>
        </p:spPr>
        <p:txBody>
          <a:bodyPr>
            <a:normAutofit fontScale="62500" lnSpcReduction="20000"/>
          </a:bodyPr>
          <a:lstStyle/>
          <a:p>
            <a:pPr marL="457200" lvl="1" indent="0" algn="ctr">
              <a:buNone/>
            </a:pPr>
            <a:r>
              <a:rPr lang="en-IN" b="1" dirty="0"/>
              <a:t>         User</a:t>
            </a:r>
          </a:p>
          <a:p>
            <a:pPr marL="457200" lvl="1" indent="0" algn="ctr">
              <a:buNone/>
            </a:pPr>
            <a:r>
              <a:rPr lang="en-IN" b="1" dirty="0"/>
              <a:t>            │</a:t>
            </a:r>
          </a:p>
          <a:p>
            <a:pPr marL="457200" lvl="1" indent="0" algn="ctr">
              <a:buNone/>
            </a:pPr>
            <a:r>
              <a:rPr lang="en-IN" b="1" dirty="0"/>
              <a:t>            ▼</a:t>
            </a:r>
          </a:p>
          <a:p>
            <a:pPr marL="457200" lvl="1" indent="0" algn="ctr">
              <a:buNone/>
            </a:pPr>
            <a:r>
              <a:rPr lang="en-IN" b="1" dirty="0"/>
              <a:t>   Enter Chat Message</a:t>
            </a:r>
          </a:p>
          <a:p>
            <a:pPr marL="457200" lvl="1" indent="0" algn="ctr">
              <a:buNone/>
            </a:pPr>
            <a:r>
              <a:rPr lang="en-IN" b="1" dirty="0"/>
              <a:t>            │</a:t>
            </a:r>
          </a:p>
          <a:p>
            <a:pPr marL="457200" lvl="1" indent="0" algn="ctr">
              <a:buNone/>
            </a:pPr>
            <a:r>
              <a:rPr lang="en-IN" b="1" dirty="0"/>
              <a:t>            ▼</a:t>
            </a:r>
          </a:p>
          <a:p>
            <a:pPr marL="457200" lvl="1" indent="0" algn="ctr">
              <a:buNone/>
            </a:pPr>
            <a:r>
              <a:rPr lang="en-IN" b="1" dirty="0"/>
              <a:t>     Click "Submit"</a:t>
            </a:r>
          </a:p>
          <a:p>
            <a:pPr marL="457200" lvl="1" indent="0" algn="ctr">
              <a:buNone/>
            </a:pPr>
            <a:r>
              <a:rPr lang="en-IN" b="1" dirty="0"/>
              <a:t>            │</a:t>
            </a:r>
          </a:p>
          <a:p>
            <a:pPr marL="457200" lvl="1" indent="0" algn="ctr">
              <a:buNone/>
            </a:pPr>
            <a:r>
              <a:rPr lang="en-IN" b="1" dirty="0"/>
              <a:t>            ▼</a:t>
            </a:r>
          </a:p>
          <a:p>
            <a:pPr marL="457200" lvl="1" indent="0" algn="ctr">
              <a:buNone/>
            </a:pPr>
            <a:r>
              <a:rPr lang="en-IN" b="1" dirty="0"/>
              <a:t>   Text Preprocessing</a:t>
            </a:r>
          </a:p>
          <a:p>
            <a:pPr marL="457200" lvl="1" indent="0" algn="ctr">
              <a:buNone/>
            </a:pPr>
            <a:r>
              <a:rPr lang="en-IN" b="1" dirty="0"/>
              <a:t>            │</a:t>
            </a:r>
          </a:p>
          <a:p>
            <a:pPr marL="457200" lvl="1" indent="0" algn="ctr">
              <a:buNone/>
            </a:pPr>
            <a:r>
              <a:rPr lang="en-IN" b="1" dirty="0"/>
              <a:t>            ▼</a:t>
            </a:r>
          </a:p>
          <a:p>
            <a:pPr marL="457200" lvl="1" indent="0" algn="ctr">
              <a:buNone/>
            </a:pPr>
            <a:r>
              <a:rPr lang="en-IN" b="1" dirty="0"/>
              <a:t> TF-IDF Feature Extraction</a:t>
            </a:r>
          </a:p>
          <a:p>
            <a:pPr marL="457200" lvl="1" indent="0" algn="ctr">
              <a:buNone/>
            </a:pPr>
            <a:r>
              <a:rPr lang="en-IN" b="1" dirty="0"/>
              <a:t>            │</a:t>
            </a:r>
          </a:p>
          <a:p>
            <a:pPr marL="457200" lvl="1" indent="0" algn="ctr">
              <a:buNone/>
            </a:pPr>
            <a:r>
              <a:rPr lang="en-IN" b="1" dirty="0"/>
              <a:t>            ▼</a:t>
            </a:r>
          </a:p>
          <a:p>
            <a:pPr marL="457200" lvl="1" indent="0" algn="ctr">
              <a:buNone/>
            </a:pPr>
            <a:r>
              <a:rPr lang="en-IN" b="1" dirty="0"/>
              <a:t> Ensemble Machine Learning Model</a:t>
            </a:r>
          </a:p>
          <a:p>
            <a:pPr marL="457200" lvl="1" indent="0" algn="ctr">
              <a:buNone/>
            </a:pPr>
            <a:r>
              <a:rPr lang="en-IN" b="1" dirty="0"/>
              <a:t>            │</a:t>
            </a:r>
          </a:p>
          <a:p>
            <a:pPr marL="457200" lvl="1" indent="0" algn="ctr">
              <a:buNone/>
            </a:pPr>
            <a:r>
              <a:rPr lang="en-IN" b="1" dirty="0"/>
              <a:t>            ▼</a:t>
            </a:r>
          </a:p>
          <a:p>
            <a:pPr marL="457200" lvl="1" indent="0" algn="ctr">
              <a:buNone/>
            </a:pPr>
            <a:r>
              <a:rPr lang="en-IN" b="1" dirty="0"/>
              <a:t> Multi-Label Classification</a:t>
            </a:r>
          </a:p>
          <a:p>
            <a:pPr marL="457200" lvl="1" indent="0" algn="ctr">
              <a:buNone/>
            </a:pPr>
            <a:r>
              <a:rPr lang="en-IN" b="1" dirty="0"/>
              <a:t>            │</a:t>
            </a:r>
          </a:p>
          <a:p>
            <a:pPr marL="457200" lvl="1" indent="0" algn="ctr">
              <a:buNone/>
            </a:pPr>
            <a:r>
              <a:rPr lang="en-IN" b="1" dirty="0"/>
              <a:t>            ▼</a:t>
            </a:r>
          </a:p>
          <a:p>
            <a:pPr marL="457200" lvl="1" indent="0" algn="ctr">
              <a:buNone/>
            </a:pPr>
            <a:r>
              <a:rPr lang="en-IN" b="1" dirty="0"/>
              <a:t> Severity Score Calculation</a:t>
            </a:r>
          </a:p>
          <a:p>
            <a:pPr marL="457200" lvl="1" indent="0" algn="ctr">
              <a:buNone/>
            </a:pPr>
            <a:r>
              <a:rPr lang="en-IN" b="1" dirty="0"/>
              <a:t>            │</a:t>
            </a:r>
          </a:p>
          <a:p>
            <a:pPr marL="457200" lvl="1" indent="0" algn="ctr">
              <a:buNone/>
            </a:pPr>
            <a:r>
              <a:rPr lang="en-IN" b="1" dirty="0"/>
              <a:t>            ▼</a:t>
            </a:r>
          </a:p>
          <a:p>
            <a:pPr marL="457200" lvl="1" indent="0" algn="ctr">
              <a:buNone/>
            </a:pPr>
            <a:r>
              <a:rPr lang="en-IN" b="1" dirty="0"/>
              <a:t> Moderation Recommendation</a:t>
            </a:r>
          </a:p>
          <a:p>
            <a:pPr marL="457200" lvl="1" indent="0" algn="ctr">
              <a:buNone/>
            </a:pPr>
            <a:r>
              <a:rPr lang="en-IN" b="1" dirty="0"/>
              <a:t>            │</a:t>
            </a:r>
          </a:p>
          <a:p>
            <a:pPr marL="457200" lvl="1" indent="0" algn="ctr">
              <a:buNone/>
            </a:pPr>
            <a:r>
              <a:rPr lang="en-IN" b="1" dirty="0"/>
              <a:t>            ▼</a:t>
            </a:r>
          </a:p>
          <a:p>
            <a:pPr marL="457200" lvl="1" indent="0" algn="ctr">
              <a:buNone/>
            </a:pPr>
            <a:r>
              <a:rPr lang="en-IN" b="1" dirty="0"/>
              <a:t> Display Results in </a:t>
            </a:r>
            <a:r>
              <a:rPr lang="en-IN" b="1" dirty="0" err="1"/>
              <a:t>Gradio</a:t>
            </a:r>
            <a:endParaRPr lang="en-IN" b="1" dirty="0"/>
          </a:p>
        </p:txBody>
      </p:sp>
    </p:spTree>
    <p:extLst>
      <p:ext uri="{BB962C8B-B14F-4D97-AF65-F5344CB8AC3E}">
        <p14:creationId xmlns:p14="http://schemas.microsoft.com/office/powerpoint/2010/main" val="1931190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EFAA7-1220-EC28-6B5B-545607D58C8A}"/>
              </a:ext>
            </a:extLst>
          </p:cNvPr>
          <p:cNvSpPr>
            <a:spLocks noGrp="1"/>
          </p:cNvSpPr>
          <p:nvPr>
            <p:ph type="title"/>
          </p:nvPr>
        </p:nvSpPr>
        <p:spPr>
          <a:xfrm>
            <a:off x="838200" y="89453"/>
            <a:ext cx="10515600" cy="824948"/>
          </a:xfrm>
        </p:spPr>
        <p:txBody>
          <a:bodyPr>
            <a:normAutofit/>
          </a:bodyPr>
          <a:lstStyle/>
          <a:p>
            <a:pPr algn="ctr"/>
            <a:r>
              <a:rPr lang="en-IN" sz="3200" dirty="0"/>
              <a:t>Features of the </a:t>
            </a:r>
            <a:r>
              <a:rPr lang="en-IN" sz="3200" dirty="0" err="1"/>
              <a:t>Gradio</a:t>
            </a:r>
            <a:r>
              <a:rPr lang="en-IN" sz="3200" dirty="0"/>
              <a:t> Application</a:t>
            </a:r>
          </a:p>
        </p:txBody>
      </p:sp>
      <p:graphicFrame>
        <p:nvGraphicFramePr>
          <p:cNvPr id="4" name="Content Placeholder 3">
            <a:extLst>
              <a:ext uri="{FF2B5EF4-FFF2-40B4-BE49-F238E27FC236}">
                <a16:creationId xmlns:a16="http://schemas.microsoft.com/office/drawing/2014/main" id="{F4E78FD7-0A3F-D6E7-9860-1833ABDC4D3A}"/>
              </a:ext>
            </a:extLst>
          </p:cNvPr>
          <p:cNvGraphicFramePr>
            <a:graphicFrameLocks noGrp="1"/>
          </p:cNvGraphicFramePr>
          <p:nvPr>
            <p:ph idx="1"/>
            <p:extLst>
              <p:ext uri="{D42A27DB-BD31-4B8C-83A1-F6EECF244321}">
                <p14:modId xmlns:p14="http://schemas.microsoft.com/office/powerpoint/2010/main" val="2229603422"/>
              </p:ext>
            </p:extLst>
          </p:nvPr>
        </p:nvGraphicFramePr>
        <p:xfrm>
          <a:off x="5883965" y="746157"/>
          <a:ext cx="5469835" cy="5780335"/>
        </p:xfrm>
        <a:graphic>
          <a:graphicData uri="http://schemas.openxmlformats.org/drawingml/2006/table">
            <a:tbl>
              <a:tblPr/>
              <a:tblGrid>
                <a:gridCol w="2583678">
                  <a:extLst>
                    <a:ext uri="{9D8B030D-6E8A-4147-A177-3AD203B41FA5}">
                      <a16:colId xmlns:a16="http://schemas.microsoft.com/office/drawing/2014/main" val="2686482908"/>
                    </a:ext>
                  </a:extLst>
                </a:gridCol>
                <a:gridCol w="2886157">
                  <a:extLst>
                    <a:ext uri="{9D8B030D-6E8A-4147-A177-3AD203B41FA5}">
                      <a16:colId xmlns:a16="http://schemas.microsoft.com/office/drawing/2014/main" val="1410148839"/>
                    </a:ext>
                  </a:extLst>
                </a:gridCol>
              </a:tblGrid>
              <a:tr h="18979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1" dirty="0"/>
                        <a:t>User  Interface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p>
                    <a:p>
                      <a:pPr>
                        <a:buNone/>
                      </a:pPr>
                      <a:endParaRPr lang="en-IN" dirty="0"/>
                    </a:p>
                    <a:p>
                      <a:pPr algn="ctr">
                        <a:buNone/>
                      </a:pPr>
                      <a:r>
                        <a:rPr lang="en-IN" sz="2400" dirty="0"/>
                        <a:t>Component</a:t>
                      </a:r>
                    </a:p>
                  </a:txBody>
                  <a:tcPr anchor="ctr">
                    <a:lnL>
                      <a:noFill/>
                    </a:lnL>
                    <a:lnR>
                      <a:noFill/>
                    </a:lnR>
                    <a:lnT>
                      <a:noFill/>
                    </a:lnT>
                    <a:lnB>
                      <a:noFill/>
                    </a:lnB>
                    <a:noFill/>
                  </a:tcPr>
                </a:tc>
                <a:tc>
                  <a:txBody>
                    <a:bodyPr/>
                    <a:lstStyle/>
                    <a:p>
                      <a:pPr>
                        <a:buNone/>
                      </a:pPr>
                      <a:r>
                        <a:rPr lang="en-IN" dirty="0"/>
                        <a:t> </a:t>
                      </a:r>
                    </a:p>
                    <a:p>
                      <a:pPr>
                        <a:buNone/>
                      </a:pPr>
                      <a:endParaRPr lang="en-IN" dirty="0"/>
                    </a:p>
                    <a:p>
                      <a:pPr>
                        <a:buNone/>
                      </a:pPr>
                      <a:endParaRPr lang="en-IN" dirty="0"/>
                    </a:p>
                    <a:p>
                      <a:pPr>
                        <a:buNone/>
                      </a:pPr>
                      <a:endParaRPr lang="en-IN" dirty="0"/>
                    </a:p>
                    <a:p>
                      <a:pPr>
                        <a:buNone/>
                      </a:pPr>
                      <a:endParaRPr lang="en-IN" dirty="0"/>
                    </a:p>
                    <a:p>
                      <a:pPr algn="ctr">
                        <a:buNone/>
                      </a:pPr>
                      <a:endParaRPr lang="en-IN" dirty="0"/>
                    </a:p>
                    <a:p>
                      <a:pPr algn="ctr">
                        <a:buNone/>
                      </a:pPr>
                      <a:r>
                        <a:rPr lang="en-IN" sz="2400" dirty="0"/>
                        <a:t>Description</a:t>
                      </a:r>
                    </a:p>
                  </a:txBody>
                  <a:tcPr anchor="ctr">
                    <a:lnL>
                      <a:noFill/>
                    </a:lnL>
                    <a:lnR>
                      <a:noFill/>
                    </a:lnR>
                    <a:lnT>
                      <a:noFill/>
                    </a:lnT>
                    <a:lnB>
                      <a:noFill/>
                    </a:lnB>
                    <a:noFill/>
                  </a:tcPr>
                </a:tc>
                <a:extLst>
                  <a:ext uri="{0D108BD9-81ED-4DB2-BD59-A6C34878D82A}">
                    <a16:rowId xmlns:a16="http://schemas.microsoft.com/office/drawing/2014/main" val="4220686868"/>
                  </a:ext>
                </a:extLst>
              </a:tr>
              <a:tr h="1186198">
                <a:tc>
                  <a:txBody>
                    <a:bodyPr/>
                    <a:lstStyle/>
                    <a:p>
                      <a:pPr>
                        <a:buNone/>
                      </a:pPr>
                      <a:r>
                        <a:rPr lang="en-IN" sz="2000" b="1" dirty="0"/>
                        <a:t>Textbox</a:t>
                      </a:r>
                      <a:endParaRPr lang="en-IN" sz="2000" dirty="0"/>
                    </a:p>
                  </a:txBody>
                  <a:tcPr anchor="ctr">
                    <a:lnL>
                      <a:noFill/>
                    </a:lnL>
                    <a:lnR>
                      <a:noFill/>
                    </a:lnR>
                    <a:lnT>
                      <a:noFill/>
                    </a:lnT>
                    <a:lnB>
                      <a:noFill/>
                    </a:lnB>
                    <a:noFill/>
                  </a:tcPr>
                </a:tc>
                <a:tc>
                  <a:txBody>
                    <a:bodyPr/>
                    <a:lstStyle/>
                    <a:p>
                      <a:pPr>
                        <a:buNone/>
                      </a:pPr>
                      <a:r>
                        <a:rPr lang="en-IN" sz="2000" dirty="0"/>
                        <a:t>Allows users to enter a gaming chat message.</a:t>
                      </a:r>
                    </a:p>
                  </a:txBody>
                  <a:tcPr anchor="ctr">
                    <a:lnL>
                      <a:noFill/>
                    </a:lnL>
                    <a:lnR>
                      <a:noFill/>
                    </a:lnR>
                    <a:lnT>
                      <a:noFill/>
                    </a:lnT>
                    <a:lnB>
                      <a:noFill/>
                    </a:lnB>
                    <a:noFill/>
                  </a:tcPr>
                </a:tc>
                <a:extLst>
                  <a:ext uri="{0D108BD9-81ED-4DB2-BD59-A6C34878D82A}">
                    <a16:rowId xmlns:a16="http://schemas.microsoft.com/office/drawing/2014/main" val="2067067131"/>
                  </a:ext>
                </a:extLst>
              </a:tr>
              <a:tr h="830339">
                <a:tc>
                  <a:txBody>
                    <a:bodyPr/>
                    <a:lstStyle/>
                    <a:p>
                      <a:pPr>
                        <a:buNone/>
                      </a:pPr>
                      <a:r>
                        <a:rPr lang="en-IN" sz="2000" b="1"/>
                        <a:t>Submit Button</a:t>
                      </a:r>
                      <a:endParaRPr lang="en-IN" sz="2000"/>
                    </a:p>
                  </a:txBody>
                  <a:tcPr anchor="ctr">
                    <a:lnL>
                      <a:noFill/>
                    </a:lnL>
                    <a:lnR>
                      <a:noFill/>
                    </a:lnR>
                    <a:lnT>
                      <a:noFill/>
                    </a:lnT>
                    <a:lnB>
                      <a:noFill/>
                    </a:lnB>
                    <a:noFill/>
                  </a:tcPr>
                </a:tc>
                <a:tc>
                  <a:txBody>
                    <a:bodyPr/>
                    <a:lstStyle/>
                    <a:p>
                      <a:pPr>
                        <a:buNone/>
                      </a:pPr>
                      <a:r>
                        <a:rPr lang="en-IN" sz="2000"/>
                        <a:t>Sends the message for toxicity analysis.</a:t>
                      </a:r>
                    </a:p>
                  </a:txBody>
                  <a:tcPr anchor="ctr">
                    <a:lnL>
                      <a:noFill/>
                    </a:lnL>
                    <a:lnR>
                      <a:noFill/>
                    </a:lnR>
                    <a:lnT>
                      <a:noFill/>
                    </a:lnT>
                    <a:lnB>
                      <a:noFill/>
                    </a:lnB>
                    <a:noFill/>
                  </a:tcPr>
                </a:tc>
                <a:extLst>
                  <a:ext uri="{0D108BD9-81ED-4DB2-BD59-A6C34878D82A}">
                    <a16:rowId xmlns:a16="http://schemas.microsoft.com/office/drawing/2014/main" val="833900113"/>
                  </a:ext>
                </a:extLst>
              </a:tr>
              <a:tr h="830339">
                <a:tc>
                  <a:txBody>
                    <a:bodyPr/>
                    <a:lstStyle/>
                    <a:p>
                      <a:pPr>
                        <a:buNone/>
                      </a:pPr>
                      <a:r>
                        <a:rPr lang="en-IN" sz="2000" b="1" dirty="0"/>
                        <a:t>Output Panel</a:t>
                      </a:r>
                      <a:endParaRPr lang="en-IN" sz="2000" dirty="0"/>
                    </a:p>
                  </a:txBody>
                  <a:tcPr anchor="ctr">
                    <a:lnL>
                      <a:noFill/>
                    </a:lnL>
                    <a:lnR>
                      <a:noFill/>
                    </a:lnR>
                    <a:lnT>
                      <a:noFill/>
                    </a:lnT>
                    <a:lnB>
                      <a:noFill/>
                    </a:lnB>
                    <a:noFill/>
                  </a:tcPr>
                </a:tc>
                <a:tc>
                  <a:txBody>
                    <a:bodyPr/>
                    <a:lstStyle/>
                    <a:p>
                      <a:pPr>
                        <a:buNone/>
                      </a:pPr>
                      <a:r>
                        <a:rPr lang="en-IN" sz="2000"/>
                        <a:t>Displays the prediction results.</a:t>
                      </a:r>
                    </a:p>
                  </a:txBody>
                  <a:tcPr anchor="ctr">
                    <a:lnL>
                      <a:noFill/>
                    </a:lnL>
                    <a:lnR>
                      <a:noFill/>
                    </a:lnR>
                    <a:lnT>
                      <a:noFill/>
                    </a:lnT>
                    <a:lnB>
                      <a:noFill/>
                    </a:lnB>
                    <a:noFill/>
                  </a:tcPr>
                </a:tc>
                <a:extLst>
                  <a:ext uri="{0D108BD9-81ED-4DB2-BD59-A6C34878D82A}">
                    <a16:rowId xmlns:a16="http://schemas.microsoft.com/office/drawing/2014/main" val="476734558"/>
                  </a:ext>
                </a:extLst>
              </a:tr>
              <a:tr h="830339">
                <a:tc>
                  <a:txBody>
                    <a:bodyPr/>
                    <a:lstStyle/>
                    <a:p>
                      <a:pPr>
                        <a:buNone/>
                      </a:pPr>
                      <a:r>
                        <a:rPr lang="en-IN" sz="2000" b="1"/>
                        <a:t>Clear Button</a:t>
                      </a:r>
                      <a:endParaRPr lang="en-IN" sz="2000"/>
                    </a:p>
                  </a:txBody>
                  <a:tcPr anchor="ctr">
                    <a:lnL>
                      <a:noFill/>
                    </a:lnL>
                    <a:lnR>
                      <a:noFill/>
                    </a:lnR>
                    <a:lnT>
                      <a:noFill/>
                    </a:lnT>
                    <a:lnB>
                      <a:noFill/>
                    </a:lnB>
                    <a:noFill/>
                  </a:tcPr>
                </a:tc>
                <a:tc>
                  <a:txBody>
                    <a:bodyPr/>
                    <a:lstStyle/>
                    <a:p>
                      <a:pPr>
                        <a:buNone/>
                      </a:pPr>
                      <a:r>
                        <a:rPr lang="en-IN" sz="2000" dirty="0"/>
                        <a:t>Clears the input and output fields.</a:t>
                      </a:r>
                    </a:p>
                  </a:txBody>
                  <a:tcPr anchor="ctr">
                    <a:lnL>
                      <a:noFill/>
                    </a:lnL>
                    <a:lnR>
                      <a:noFill/>
                    </a:lnR>
                    <a:lnT>
                      <a:noFill/>
                    </a:lnT>
                    <a:lnB>
                      <a:noFill/>
                    </a:lnB>
                    <a:noFill/>
                  </a:tcPr>
                </a:tc>
                <a:extLst>
                  <a:ext uri="{0D108BD9-81ED-4DB2-BD59-A6C34878D82A}">
                    <a16:rowId xmlns:a16="http://schemas.microsoft.com/office/drawing/2014/main" val="4246429242"/>
                  </a:ext>
                </a:extLst>
              </a:tr>
            </a:tbl>
          </a:graphicData>
        </a:graphic>
      </p:graphicFrame>
      <p:sp>
        <p:nvSpPr>
          <p:cNvPr id="6" name="TextBox 5">
            <a:extLst>
              <a:ext uri="{FF2B5EF4-FFF2-40B4-BE49-F238E27FC236}">
                <a16:creationId xmlns:a16="http://schemas.microsoft.com/office/drawing/2014/main" id="{A3DF3875-9870-7709-520D-B93786807988}"/>
              </a:ext>
            </a:extLst>
          </p:cNvPr>
          <p:cNvSpPr txBox="1"/>
          <p:nvPr/>
        </p:nvSpPr>
        <p:spPr>
          <a:xfrm>
            <a:off x="192156" y="746157"/>
            <a:ext cx="4022035" cy="4647426"/>
          </a:xfrm>
          <a:prstGeom prst="rect">
            <a:avLst/>
          </a:prstGeom>
          <a:noFill/>
        </p:spPr>
        <p:txBody>
          <a:bodyPr wrap="square">
            <a:spAutoFit/>
          </a:bodyPr>
          <a:lstStyle/>
          <a:p>
            <a:pPr marL="285750" lvl="0" indent="-285750">
              <a:buFont typeface="Wingdings" panose="05000000000000000000" pitchFamily="2" charset="2"/>
              <a:buChar char="Ø"/>
            </a:pPr>
            <a:r>
              <a:rPr lang="en-IN" sz="2000" b="1" dirty="0"/>
              <a:t>Simple and intuitive user interface</a:t>
            </a:r>
            <a:r>
              <a:rPr lang="en-IN" sz="2000" dirty="0"/>
              <a:t> </a:t>
            </a:r>
          </a:p>
          <a:p>
            <a:pPr marL="285750" lvl="0" indent="-285750">
              <a:buFont typeface="Wingdings" panose="05000000000000000000" pitchFamily="2" charset="2"/>
              <a:buChar char="Ø"/>
            </a:pPr>
            <a:r>
              <a:rPr lang="en-IN" sz="2000" b="1" dirty="0"/>
              <a:t>Real-time toxicity prediction</a:t>
            </a:r>
            <a:r>
              <a:rPr lang="en-IN" sz="2000" dirty="0"/>
              <a:t> </a:t>
            </a:r>
          </a:p>
          <a:p>
            <a:pPr marL="285750" lvl="0" indent="-285750">
              <a:buFont typeface="Wingdings" panose="05000000000000000000" pitchFamily="2" charset="2"/>
              <a:buChar char="Ø"/>
            </a:pPr>
            <a:r>
              <a:rPr lang="en-IN" sz="2000" b="1" dirty="0"/>
              <a:t>Supports multi-label classification</a:t>
            </a:r>
            <a:r>
              <a:rPr lang="en-IN" sz="2000" dirty="0"/>
              <a:t> </a:t>
            </a:r>
          </a:p>
          <a:p>
            <a:pPr marL="285750" lvl="0" indent="-285750">
              <a:buFont typeface="Wingdings" panose="05000000000000000000" pitchFamily="2" charset="2"/>
              <a:buChar char="Ø"/>
            </a:pPr>
            <a:r>
              <a:rPr lang="en-IN" sz="2000" b="1" dirty="0"/>
              <a:t>Displays detected toxicity labels</a:t>
            </a:r>
            <a:r>
              <a:rPr lang="en-IN" sz="2000" dirty="0"/>
              <a:t> </a:t>
            </a:r>
          </a:p>
          <a:p>
            <a:pPr marL="285750" lvl="0" indent="-285750">
              <a:buFont typeface="Wingdings" panose="05000000000000000000" pitchFamily="2" charset="2"/>
              <a:buChar char="Ø"/>
            </a:pPr>
            <a:r>
              <a:rPr lang="en-IN" sz="2000" b="1" dirty="0"/>
              <a:t>Calculates severity score (1–5)</a:t>
            </a:r>
            <a:r>
              <a:rPr lang="en-IN" sz="2000" dirty="0"/>
              <a:t> </a:t>
            </a:r>
          </a:p>
          <a:p>
            <a:pPr marL="285750" lvl="0" indent="-285750">
              <a:buFont typeface="Wingdings" panose="05000000000000000000" pitchFamily="2" charset="2"/>
              <a:buChar char="Ø"/>
            </a:pPr>
            <a:r>
              <a:rPr lang="en-IN" sz="2000" b="1" dirty="0"/>
              <a:t>Recommends moderation actions</a:t>
            </a:r>
            <a:r>
              <a:rPr lang="en-IN" sz="2000" dirty="0"/>
              <a:t> </a:t>
            </a:r>
          </a:p>
          <a:p>
            <a:pPr marL="285750" lvl="0" indent="-285750">
              <a:buFont typeface="Wingdings" panose="05000000000000000000" pitchFamily="2" charset="2"/>
              <a:buChar char="Ø"/>
            </a:pPr>
            <a:r>
              <a:rPr lang="en-IN" sz="2000" b="1" dirty="0"/>
              <a:t>Clear button to reset inputs</a:t>
            </a:r>
            <a:r>
              <a:rPr lang="en-IN" sz="2000" dirty="0"/>
              <a:t> </a:t>
            </a:r>
          </a:p>
          <a:p>
            <a:pPr marL="285750" lvl="0" indent="-285750">
              <a:buFont typeface="Wingdings" panose="05000000000000000000" pitchFamily="2" charset="2"/>
              <a:buChar char="Ø"/>
            </a:pPr>
            <a:r>
              <a:rPr lang="en-IN" sz="2000" b="1" dirty="0"/>
              <a:t>Responsive web-based interface</a:t>
            </a:r>
            <a:r>
              <a:rPr lang="en-IN" sz="2000" dirty="0"/>
              <a:t> </a:t>
            </a:r>
          </a:p>
          <a:p>
            <a:pPr>
              <a:buNone/>
            </a:pPr>
            <a:br>
              <a:rPr lang="en-IN" dirty="0"/>
            </a:br>
            <a:endParaRPr lang="en-IN" dirty="0"/>
          </a:p>
        </p:txBody>
      </p:sp>
    </p:spTree>
    <p:extLst>
      <p:ext uri="{BB962C8B-B14F-4D97-AF65-F5344CB8AC3E}">
        <p14:creationId xmlns:p14="http://schemas.microsoft.com/office/powerpoint/2010/main" val="3274401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3731-94AD-0E4F-1EFA-EF49D2D17392}"/>
              </a:ext>
            </a:extLst>
          </p:cNvPr>
          <p:cNvSpPr>
            <a:spLocks noGrp="1"/>
          </p:cNvSpPr>
          <p:nvPr>
            <p:ph type="title"/>
          </p:nvPr>
        </p:nvSpPr>
        <p:spPr>
          <a:xfrm>
            <a:off x="838200" y="116647"/>
            <a:ext cx="10515600" cy="748058"/>
          </a:xfrm>
        </p:spPr>
        <p:txBody>
          <a:bodyPr/>
          <a:lstStyle/>
          <a:p>
            <a:pPr algn="ctr"/>
            <a:r>
              <a:rPr lang="en-IN" dirty="0"/>
              <a:t>Conclusion</a:t>
            </a:r>
          </a:p>
        </p:txBody>
      </p:sp>
      <p:sp>
        <p:nvSpPr>
          <p:cNvPr id="3" name="Content Placeholder 2">
            <a:extLst>
              <a:ext uri="{FF2B5EF4-FFF2-40B4-BE49-F238E27FC236}">
                <a16:creationId xmlns:a16="http://schemas.microsoft.com/office/drawing/2014/main" id="{5605FEDE-EB2C-89FF-A688-7F49A18BFBE5}"/>
              </a:ext>
            </a:extLst>
          </p:cNvPr>
          <p:cNvSpPr>
            <a:spLocks noGrp="1"/>
          </p:cNvSpPr>
          <p:nvPr>
            <p:ph idx="1"/>
          </p:nvPr>
        </p:nvSpPr>
        <p:spPr>
          <a:xfrm>
            <a:off x="838200" y="864706"/>
            <a:ext cx="11353800" cy="3175119"/>
          </a:xfrm>
        </p:spPr>
        <p:txBody>
          <a:bodyPr>
            <a:normAutofit fontScale="47500" lnSpcReduction="20000"/>
          </a:bodyPr>
          <a:lstStyle/>
          <a:p>
            <a:r>
              <a:rPr lang="en-IN" sz="4200" dirty="0"/>
              <a:t>The </a:t>
            </a:r>
            <a:r>
              <a:rPr lang="en-IN" sz="4200" b="1" dirty="0"/>
              <a:t>Gaming Chat Toxicity Classification System</a:t>
            </a:r>
            <a:r>
              <a:rPr lang="en-IN" sz="4200" dirty="0"/>
              <a:t> successfully demonstrates the use of </a:t>
            </a:r>
            <a:r>
              <a:rPr lang="en-IN" sz="4200" b="1" dirty="0"/>
              <a:t>Natural Language Processing (NLP)</a:t>
            </a:r>
            <a:r>
              <a:rPr lang="en-IN" sz="4200" dirty="0"/>
              <a:t> and </a:t>
            </a:r>
            <a:r>
              <a:rPr lang="en-IN" sz="4200" b="1" dirty="0"/>
              <a:t>Machine Learning</a:t>
            </a:r>
            <a:r>
              <a:rPr lang="en-IN" sz="4200" dirty="0"/>
              <a:t> to automatically detect toxic behaviour in online gaming conversations. By combining </a:t>
            </a:r>
            <a:r>
              <a:rPr lang="en-IN" sz="4200" b="1" dirty="0"/>
              <a:t>TF-IDF feature extraction</a:t>
            </a:r>
            <a:r>
              <a:rPr lang="en-IN" sz="4200" dirty="0"/>
              <a:t> with an </a:t>
            </a:r>
            <a:r>
              <a:rPr lang="en-IN" sz="4200" b="1" dirty="0"/>
              <a:t>Ensemble Machine Learning model</a:t>
            </a:r>
            <a:r>
              <a:rPr lang="en-IN" sz="4200" dirty="0"/>
              <a:t> consisting of </a:t>
            </a:r>
            <a:r>
              <a:rPr lang="en-IN" sz="4200" b="1" dirty="0"/>
              <a:t>Logistic Regression</a:t>
            </a:r>
            <a:r>
              <a:rPr lang="en-IN" sz="4200" dirty="0"/>
              <a:t> and </a:t>
            </a:r>
            <a:r>
              <a:rPr lang="en-IN" sz="4200" b="1" dirty="0"/>
              <a:t>Random Forest</a:t>
            </a:r>
            <a:r>
              <a:rPr lang="en-IN" sz="4200" dirty="0"/>
              <a:t> using a </a:t>
            </a:r>
            <a:r>
              <a:rPr lang="en-IN" sz="4200" b="1" dirty="0"/>
              <a:t>Soft Voting Classifier</a:t>
            </a:r>
            <a:r>
              <a:rPr lang="en-IN" sz="4200" dirty="0"/>
              <a:t>, the system effectively performs </a:t>
            </a:r>
            <a:r>
              <a:rPr lang="en-IN" sz="4200" b="1" dirty="0"/>
              <a:t>multi-label toxicity classification</a:t>
            </a:r>
            <a:r>
              <a:rPr lang="en-IN" sz="4200" dirty="0"/>
              <a:t> across six toxicity categories.</a:t>
            </a:r>
          </a:p>
          <a:p>
            <a:r>
              <a:rPr lang="en-IN" sz="4200" dirty="0"/>
              <a:t>The developed model can identify toxic messages in real time, calculate a severity score, recommend appropriate moderation actions, and generate detection logs for monitoring and analysis. The integration of a </a:t>
            </a:r>
            <a:r>
              <a:rPr lang="en-IN" sz="4200" b="1" dirty="0" err="1"/>
              <a:t>Gradio</a:t>
            </a:r>
            <a:r>
              <a:rPr lang="en-IN" sz="4200" b="1" dirty="0"/>
              <a:t> web application</a:t>
            </a:r>
            <a:r>
              <a:rPr lang="en-IN" sz="4200" dirty="0"/>
              <a:t> further provides an interactive interface, making the system practical for demonstration and deployment.</a:t>
            </a:r>
          </a:p>
          <a:p>
            <a:r>
              <a:rPr lang="en-IN" sz="4200" dirty="0"/>
              <a:t>Overall, the project contributes to creating a </a:t>
            </a:r>
            <a:r>
              <a:rPr lang="en-IN" sz="4200" b="1" dirty="0"/>
              <a:t>safer, healthier, and more positive gaming environment</a:t>
            </a:r>
            <a:r>
              <a:rPr lang="en-IN" sz="4200" dirty="0"/>
              <a:t> by reducing manual moderation efforts and enabling faster responses to abusive behaviour.</a:t>
            </a:r>
          </a:p>
          <a:p>
            <a:endParaRPr lang="en-IN" dirty="0"/>
          </a:p>
        </p:txBody>
      </p:sp>
      <p:sp>
        <p:nvSpPr>
          <p:cNvPr id="4" name="Content Placeholder 2">
            <a:extLst>
              <a:ext uri="{FF2B5EF4-FFF2-40B4-BE49-F238E27FC236}">
                <a16:creationId xmlns:a16="http://schemas.microsoft.com/office/drawing/2014/main" id="{97289C89-2BB9-3DEE-4C86-FAA20BE81D16}"/>
              </a:ext>
            </a:extLst>
          </p:cNvPr>
          <p:cNvSpPr txBox="1">
            <a:spLocks/>
          </p:cNvSpPr>
          <p:nvPr/>
        </p:nvSpPr>
        <p:spPr>
          <a:xfrm>
            <a:off x="493643" y="3627783"/>
            <a:ext cx="11353800" cy="27630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dirty="0"/>
          </a:p>
        </p:txBody>
      </p:sp>
      <p:sp>
        <p:nvSpPr>
          <p:cNvPr id="6" name="TextBox 5">
            <a:extLst>
              <a:ext uri="{FF2B5EF4-FFF2-40B4-BE49-F238E27FC236}">
                <a16:creationId xmlns:a16="http://schemas.microsoft.com/office/drawing/2014/main" id="{ABC7A575-A815-061D-0E2D-AF37389F0789}"/>
              </a:ext>
            </a:extLst>
          </p:cNvPr>
          <p:cNvSpPr txBox="1"/>
          <p:nvPr/>
        </p:nvSpPr>
        <p:spPr>
          <a:xfrm>
            <a:off x="1013791" y="4039825"/>
            <a:ext cx="11002618" cy="1938992"/>
          </a:xfrm>
          <a:prstGeom prst="rect">
            <a:avLst/>
          </a:prstGeom>
          <a:noFill/>
        </p:spPr>
        <p:txBody>
          <a:bodyPr wrap="square">
            <a:spAutoFit/>
          </a:bodyPr>
          <a:lstStyle/>
          <a:p>
            <a:pPr>
              <a:buNone/>
            </a:pPr>
            <a:endParaRPr lang="en-IN" sz="2400" b="1" dirty="0"/>
          </a:p>
          <a:p>
            <a:pPr>
              <a:buNone/>
            </a:pPr>
            <a:r>
              <a:rPr lang="en-IN" sz="3200" b="1" dirty="0"/>
              <a:t>Takeaway</a:t>
            </a:r>
          </a:p>
          <a:p>
            <a:pPr>
              <a:buNone/>
            </a:pPr>
            <a:r>
              <a:rPr lang="en-IN" sz="2400" dirty="0"/>
              <a:t>"</a:t>
            </a:r>
            <a:r>
              <a:rPr lang="en-IN" sz="2000" dirty="0"/>
              <a:t>This project demonstrates how Ensemble Machine Learning and Natural Language Processing can be combined to automate gaming chat moderation, reduce toxic interactions, and create a safer, more enjoyable online gaming experience."</a:t>
            </a:r>
          </a:p>
        </p:txBody>
      </p:sp>
    </p:spTree>
    <p:extLst>
      <p:ext uri="{BB962C8B-B14F-4D97-AF65-F5344CB8AC3E}">
        <p14:creationId xmlns:p14="http://schemas.microsoft.com/office/powerpoint/2010/main" val="1431461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1455</TotalTime>
  <Words>3434</Words>
  <Application>Microsoft Office PowerPoint</Application>
  <PresentationFormat>Widescreen</PresentationFormat>
  <Paragraphs>547</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Wingdings</vt:lpstr>
      <vt:lpstr>Office Theme</vt:lpstr>
      <vt:lpstr>Gaming Chat Toxicity Classification</vt:lpstr>
      <vt:lpstr>PowerPoint Presentation</vt:lpstr>
      <vt:lpstr>PowerPoint Presentation</vt:lpstr>
      <vt:lpstr>Introduction</vt:lpstr>
      <vt:lpstr>Problem Statement</vt:lpstr>
      <vt:lpstr>Objectives</vt:lpstr>
      <vt:lpstr>Dataset</vt:lpstr>
      <vt:lpstr>PowerPoint Presentation</vt:lpstr>
      <vt:lpstr>PowerPoint Presentation</vt:lpstr>
      <vt:lpstr>System Architecture</vt:lpstr>
      <vt:lpstr>PowerPoint Presentation</vt:lpstr>
      <vt:lpstr>PowerPoint Presentation</vt:lpstr>
      <vt:lpstr>PowerPoint Presentation</vt:lpstr>
      <vt:lpstr>Text Preprocessing</vt:lpstr>
      <vt:lpstr>Preprocessing Workflow</vt:lpstr>
      <vt:lpstr>TF-IDF (Term Frequency–Inverse Document Frequency)</vt:lpstr>
      <vt:lpstr>Ensemble Model</vt:lpstr>
      <vt:lpstr>PowerPoint Presentation</vt:lpstr>
      <vt:lpstr>PowerPoint Presentation</vt:lpstr>
      <vt:lpstr>PowerPoint Presentation</vt:lpstr>
      <vt:lpstr>Model Training</vt:lpstr>
      <vt:lpstr>PowerPoint Presentation</vt:lpstr>
      <vt:lpstr>Training Process</vt:lpstr>
      <vt:lpstr>PowerPoint Presentation</vt:lpstr>
      <vt:lpstr>Training Configuration</vt:lpstr>
      <vt:lpstr>PowerPoint Presentation</vt:lpstr>
      <vt:lpstr>PowerPoint Presentation</vt:lpstr>
      <vt:lpstr>Model Evaluation</vt:lpstr>
      <vt:lpstr>Evaluation Workflow</vt:lpstr>
      <vt:lpstr>Performance Metrics Generated</vt:lpstr>
      <vt:lpstr>PowerPoint Presentation</vt:lpstr>
      <vt:lpstr>PowerPoint Presentation</vt:lpstr>
      <vt:lpstr>Gradio Application</vt:lpstr>
      <vt:lpstr>Gradio Application Workflow</vt:lpstr>
      <vt:lpstr>Features of the Gradio Application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debayan Bhattacharyya</dc:creator>
  <cp:lastModifiedBy>debayan Bhattacharyya</cp:lastModifiedBy>
  <cp:revision>4</cp:revision>
  <dcterms:created xsi:type="dcterms:W3CDTF">2026-08-02T17:12:00Z</dcterms:created>
  <dcterms:modified xsi:type="dcterms:W3CDTF">2026-08-03T17:28:30Z</dcterms:modified>
</cp:coreProperties>
</file>